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hQ6qdNgP8AWPMVavLjc/T+7hEX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488ec2be2_0_0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g3d488ec2be2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d488ec2be2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5" name="Google Shape;15;p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4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" type="body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6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" type="body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0" name="Google Shape;40;p16"/>
          <p:cNvSpPr txBox="1"/>
          <p:nvPr>
            <p:ph idx="2" type="body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6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2" name="Google Shape;42;p16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8" name="Google Shape;58;p19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9" name="Google Shape;59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0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20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6" name="Google Shape;6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2"/>
          <p:cNvSpPr txBox="1"/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" type="body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8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0" y="64008"/>
            <a:ext cx="54864" cy="5079492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82880" y="137160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C2FF"/>
                </a:solidFill>
              </a:rPr>
              <a:t>ANRF AISEHack 2026  |  Theme 1 – Flood Segmentation  |  Phase 2 Finale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28600" y="50292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Physics-Informed Flood Segmentation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28600" y="11430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C2FF"/>
                </a:solidFill>
              </a:rPr>
              <a:t>Fine-tuning Prithvi EO v2 with a 6-Band Hydrological Feature Stack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56032" y="1572768"/>
            <a:ext cx="8631936" cy="2286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74320" y="1664208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Team ENDRA          Date: 5th April 2026          IIIT Hyderabad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56032" y="2011680"/>
            <a:ext cx="2743200" cy="1280160"/>
          </a:xfrm>
          <a:prstGeom prst="rect">
            <a:avLst/>
          </a:prstGeom>
          <a:solidFill>
            <a:srgbClr val="14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256032" y="2011680"/>
            <a:ext cx="274320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65760" y="207568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</a:rPr>
              <a:t>🛰  Foundation Model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65760" y="23774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Prithvi EO v2 (100M)
NASA/IBM backbone
fine-tuned on SAR data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63824" y="2011680"/>
            <a:ext cx="2743200" cy="1280160"/>
          </a:xfrm>
          <a:prstGeom prst="rect">
            <a:avLst/>
          </a:prstGeom>
          <a:solidFill>
            <a:srgbClr val="14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163824" y="2011680"/>
            <a:ext cx="274320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273552" y="207568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</a:rPr>
              <a:t>⚡  Novel Fast-HAND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273552" y="23774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100× faster than D8 HAND
Physics-motivated proxy
for flood basin detection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071616" y="2011680"/>
            <a:ext cx="2743200" cy="1280160"/>
          </a:xfrm>
          <a:prstGeom prst="rect">
            <a:avLst/>
          </a:prstGeom>
          <a:solidFill>
            <a:srgbClr val="14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071616" y="2011680"/>
            <a:ext cx="274320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181344" y="207568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</a:rPr>
              <a:t>🎯  3-Class Output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181344" y="23774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No-Flood · Flood · Water Body
Hybrid CE+Dice loss
Class weights [1, 5, 3]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56032" y="3401568"/>
            <a:ext cx="2743200" cy="50292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47472" y="341985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C3AFF"/>
                </a:solidFill>
              </a:rPr>
              <a:t>01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94944" y="350215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Modelling Strategy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163824" y="3401568"/>
            <a:ext cx="2743200" cy="50292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255264" y="341985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C3AFF"/>
                </a:solidFill>
              </a:rPr>
              <a:t>02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602736" y="350215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Training &amp; Results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071616" y="3401568"/>
            <a:ext cx="2743200" cy="50292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63056" y="341985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C3AFF"/>
                </a:solidFill>
              </a:rPr>
              <a:t>03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510528" y="350215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Future Work Done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56032" y="3977639"/>
            <a:ext cx="8631936" cy="777240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47472" y="400507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AAAAAA"/>
                </a:solidFill>
              </a:rPr>
              <a:t>📷 IMAGE PROMPT: Satellite aerial view of a flooded landscape in false-colour SAR composite (blue-purple-gold tones), with overlaid semi-transparent flood mask segments in cyan. Dark, cinematic, ultra-high-resolution, photorealistic.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56032" y="4937760"/>
            <a:ext cx="86319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66688"/>
                </a:solidFill>
              </a:rPr>
              <a:t>ANRF AISEHack 2026 Edition 1 – Phase 2 Finale, IIIT Hyderabad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28600" y="1371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FF"/>
                </a:solidFill>
              </a:rPr>
              <a:t>MODELLING STRATEGY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28600" y="34747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What architecture, training strategy &amp; data approach did we use?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56032" y="731520"/>
            <a:ext cx="8631936" cy="2286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256032" y="822960"/>
            <a:ext cx="4114800" cy="1005840"/>
          </a:xfrm>
          <a:prstGeom prst="rect">
            <a:avLst/>
          </a:prstGeom>
          <a:solidFill>
            <a:srgbClr val="14142A"/>
          </a:solidFill>
          <a:ln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47472" y="886968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</a:rPr>
              <a:t>01 · Foundation Model Fine-Tuning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47472" y="1124712"/>
            <a:ext cx="393192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CCCCCC"/>
                </a:solidFill>
              </a:rPr>
              <a:t>• Prithvi EO v2 (100M params) — NASA/IBM EO backbone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CCCCCC"/>
                </a:solidFill>
              </a:rPr>
              <a:t>• Pre-trained on multi-spectral satellite imagery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CCCCCC"/>
                </a:solidFill>
              </a:rPr>
              <a:t>• Fine-tuned end-to-end (FREEZE_BACKBONE = False)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CCCCCC"/>
                </a:solidFill>
              </a:rPr>
              <a:t>• UperNetDecoder (512 ch) for 3-class dense prediction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56032" y="1901952"/>
            <a:ext cx="4114800" cy="1005840"/>
          </a:xfrm>
          <a:prstGeom prst="rect">
            <a:avLst/>
          </a:prstGeom>
          <a:solidFill>
            <a:srgbClr val="14142A"/>
          </a:solidFill>
          <a:ln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47472" y="19659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02 · Physics-Informed 6-Band Feature Stack  ★ Novel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47472" y="2203704"/>
            <a:ext cx="393192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CCCCCC"/>
                </a:solidFill>
              </a:rPr>
              <a:t>• Band 1-2: HH &amp; HV SAR backscatter (Sentinel-1 GRD)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CCCCCC"/>
                </a:solidFill>
              </a:rPr>
              <a:t>• Band 3: SWIR — permanent water delineation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CCCCCC"/>
                </a:solidFill>
              </a:rPr>
              <a:t>• Band 4: Copernicus DEM 30m — elevation context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CCCCCC"/>
                </a:solidFill>
              </a:rPr>
              <a:t>• Band 5: Fast-HAND Proxy — flood-basin likelihood (450 m window)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CCCCCC"/>
                </a:solidFill>
              </a:rPr>
              <a:t>• Band 6: Slope — runoff physics &amp; flow direction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56032" y="2980944"/>
            <a:ext cx="4114800" cy="987552"/>
          </a:xfrm>
          <a:prstGeom prst="rect">
            <a:avLst/>
          </a:prstGeom>
          <a:solidFill>
            <a:srgbClr val="14142A"/>
          </a:solidFill>
          <a:ln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47472" y="3044951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99"/>
                </a:solidFill>
              </a:rPr>
              <a:t>03 · Novel Hybrid Loss Function  ★ Novel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47472" y="3282696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CCCCCC"/>
                </a:solidFill>
              </a:rPr>
              <a:t>• CrossEntropy (0.4) + Dice (0.6) — directly optimises IoU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CCCCCC"/>
                </a:solidFill>
              </a:rPr>
              <a:t>• Class weights [1.0, 5.0, 3.0]: prioritises rare flood pixels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CCCCCC"/>
                </a:solidFill>
              </a:rPr>
              <a:t>• Dice robust to extreme class imbalance (flood ≪ no-flood)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572000" y="822960"/>
            <a:ext cx="4315968" cy="2514600"/>
          </a:xfrm>
          <a:prstGeom prst="rect">
            <a:avLst/>
          </a:prstGeom>
          <a:solidFill>
            <a:srgbClr val="12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572000" y="822960"/>
            <a:ext cx="4315968" cy="3200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663440" y="877824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</a:rPr>
              <a:t>Architecture Pipeline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663440" y="113385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Input:  6-band GeoTIFF  (512 × 512)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663440" y="140817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C2FF"/>
                </a:solidFill>
              </a:rPr>
              <a:t>  ↓  Normalise (per-band μ/σ computed on corpus)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663440" y="1682495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C2FF"/>
                </a:solidFill>
              </a:rPr>
              <a:t>  ↓  Prithvi EO v2 Backbone (ViT-based, 100M)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663440" y="1956815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C2FF"/>
                </a:solidFill>
              </a:rPr>
              <a:t>  ↓  UperNetDecoder  (4 FPN levels, 512 ch)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663440" y="223113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C2FF"/>
                </a:solidFill>
              </a:rPr>
              <a:t>  ↓  3-class Softmax Head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663440" y="250545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Output: Pixel mask  {0=No-Flood, 1=Flood, 2=Water}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572000" y="3364992"/>
            <a:ext cx="4315968" cy="4572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4663440" y="33832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AAAAAA"/>
                </a:solidFill>
              </a:rPr>
              <a:t>📷 IMAGE PROMPT: Clean technical architecture diagram on dark background — 6-band satellite input stack → ViT backbone → UperNet decoder → 3-class segmentation mask. Cyan/purple palette, minimalist, no text labels.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256032" y="4005072"/>
            <a:ext cx="804672" cy="475488"/>
          </a:xfrm>
          <a:prstGeom prst="rect">
            <a:avLst/>
          </a:prstGeom>
          <a:solidFill>
            <a:srgbClr val="14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01752" y="4023360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7C3AFF"/>
                </a:solidFill>
              </a:rPr>
              <a:t>LR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01752" y="4206240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2e-5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152144" y="4005072"/>
            <a:ext cx="804672" cy="475488"/>
          </a:xfrm>
          <a:prstGeom prst="rect">
            <a:avLst/>
          </a:prstGeom>
          <a:solidFill>
            <a:srgbClr val="14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197864" y="4023360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7C3AFF"/>
                </a:solidFill>
              </a:rPr>
              <a:t>Epochs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197864" y="4206240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90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2048256" y="4005072"/>
            <a:ext cx="804672" cy="475488"/>
          </a:xfrm>
          <a:prstGeom prst="rect">
            <a:avLst/>
          </a:prstGeom>
          <a:solidFill>
            <a:srgbClr val="14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2093976" y="4023360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7C3AFF"/>
                </a:solidFill>
              </a:rPr>
              <a:t>Batch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093976" y="4206240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2944368" y="4005072"/>
            <a:ext cx="804672" cy="475488"/>
          </a:xfrm>
          <a:prstGeom prst="rect">
            <a:avLst/>
          </a:prstGeom>
          <a:solidFill>
            <a:srgbClr val="14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2990087" y="4023360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7C3AFF"/>
                </a:solidFill>
              </a:rPr>
              <a:t>Accum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990087" y="4206240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×4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3840480" y="4005072"/>
            <a:ext cx="804672" cy="475488"/>
          </a:xfrm>
          <a:prstGeom prst="rect">
            <a:avLst/>
          </a:prstGeom>
          <a:solidFill>
            <a:srgbClr val="14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3886200" y="4023360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7C3AFF"/>
                </a:solidFill>
              </a:rPr>
              <a:t>Precision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3886200" y="4206240"/>
            <a:ext cx="713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FP16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736592" y="4005072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CCCC"/>
                </a:solidFill>
              </a:rPr>
              <a:t>Framework: TerraTorch · PyTorch Lightning · rasterio · albumentations · pystac-client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56032" y="4937760"/>
            <a:ext cx="86319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66688"/>
                </a:solidFill>
              </a:rPr>
              <a:t>ANRF AISEHack 2026 Edition 1 – Phase 2 Finale, IIIT Hyderabad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 16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228600" y="1371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2FF"/>
                </a:solidFill>
              </a:rPr>
              <a:t>KEY RESULTS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28600" y="34747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What is working — Quantitative &amp; Qualitative Evaluation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256032" y="731520"/>
            <a:ext cx="8631936" cy="2286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256032" y="804672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S1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85800" y="8046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What is implemented &amp; working?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56032" y="1097280"/>
            <a:ext cx="1005840" cy="256032"/>
          </a:xfrm>
          <a:prstGeom prst="rect">
            <a:avLst/>
          </a:prstGeom>
          <a:solidFill>
            <a:srgbClr val="004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292608" y="111556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FF99"/>
                </a:solidFill>
              </a:rPr>
              <a:t>✅ Pipeline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325880" y="1115568"/>
            <a:ext cx="7498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6-band GeoTIFF stacks fused from Sentinel-1 HH/HV + SWIR + DEM + Fast-HAND + Slope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56032" y="1426464"/>
            <a:ext cx="1005840" cy="256032"/>
          </a:xfrm>
          <a:prstGeom prst="rect">
            <a:avLst/>
          </a:prstGeom>
          <a:solidFill>
            <a:srgbClr val="004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292608" y="144475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FF99"/>
                </a:solidFill>
              </a:rPr>
              <a:t>✅ Band Stats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325880" y="1444752"/>
            <a:ext cx="7498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Computed corpus-level normalisation: HH μ≈801.79 σ≈435.30 | HV μ≈357.10 σ≈164.03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256032" y="1755648"/>
            <a:ext cx="1005840" cy="256032"/>
          </a:xfrm>
          <a:prstGeom prst="rect">
            <a:avLst/>
          </a:prstGeom>
          <a:solidFill>
            <a:srgbClr val="004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292608" y="177393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FF99"/>
                </a:solidFill>
              </a:rPr>
              <a:t>✅ Model Load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325880" y="1773936"/>
            <a:ext cx="7498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Prithvi EO v2 backbone loads pre-trained weights; UperNet head initialised for 3-class output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256032" y="2084832"/>
            <a:ext cx="1005840" cy="256032"/>
          </a:xfrm>
          <a:prstGeom prst="rect">
            <a:avLst/>
          </a:prstGeom>
          <a:solidFill>
            <a:srgbClr val="004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292608" y="210312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FF99"/>
                </a:solidFill>
              </a:rPr>
              <a:t>✅ Training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325880" y="2103120"/>
            <a:ext cx="7498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90-epoch run with FP16, grad accum ×4; val/IoU_1 monitored via ModelCheckpoint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256032" y="2414015"/>
            <a:ext cx="1005840" cy="256032"/>
          </a:xfrm>
          <a:prstGeom prst="rect">
            <a:avLst/>
          </a:prstGeom>
          <a:solidFill>
            <a:srgbClr val="004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292608" y="2432303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FF99"/>
                </a:solidFill>
              </a:rPr>
              <a:t>✅ Submission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325880" y="2432303"/>
            <a:ext cx="74980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Phase 2 RLE submission generator producing Kaggle-format CSV from prediction TIFFs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56032" y="2788920"/>
            <a:ext cx="8631936" cy="2286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256032" y="2834640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FF"/>
                </a:solidFill>
              </a:rPr>
              <a:t>S2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685800" y="28346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Quantitative Metrics (Internal Val Split)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256032" y="3145536"/>
            <a:ext cx="4114800" cy="384048"/>
          </a:xfrm>
          <a:prstGeom prst="rect">
            <a:avLst/>
          </a:prstGeom>
          <a:solidFill>
            <a:srgbClr val="14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347472" y="3172968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2FF"/>
                </a:solidFill>
              </a:rPr>
              <a:t>Primary KPI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581912" y="3172968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Flood class IoU (IoU_1)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347472" y="3346704"/>
            <a:ext cx="3840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CCCCC"/>
                </a:solidFill>
              </a:rPr>
              <a:t>Monitored via ModelCheckpoint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4572000" y="3145536"/>
            <a:ext cx="4114800" cy="384048"/>
          </a:xfrm>
          <a:prstGeom prst="rect">
            <a:avLst/>
          </a:prstGeom>
          <a:solidFill>
            <a:srgbClr val="14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4663440" y="3172968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2FF"/>
                </a:solidFill>
              </a:rPr>
              <a:t>Loss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5897880" y="3172968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Hybrid CE+Dice (converging ↓)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4663440" y="3346704"/>
            <a:ext cx="3840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CCCCC"/>
                </a:solidFill>
              </a:rPr>
              <a:t>TensorBoard logged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256032" y="3602736"/>
            <a:ext cx="4114800" cy="384048"/>
          </a:xfrm>
          <a:prstGeom prst="rect">
            <a:avLst/>
          </a:prstGeom>
          <a:solidFill>
            <a:srgbClr val="14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347472" y="3630168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2FF"/>
                </a:solidFill>
              </a:rPr>
              <a:t>Physical Check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581912" y="3630168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Flood ↔ low Fast-HAND ↔ low Slope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347472" y="3803904"/>
            <a:ext cx="3840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CCCCC"/>
                </a:solidFill>
              </a:rPr>
              <a:t>Hydrological consistency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4572000" y="3602736"/>
            <a:ext cx="4114800" cy="384048"/>
          </a:xfrm>
          <a:prstGeom prst="rect">
            <a:avLst/>
          </a:prstGeom>
          <a:solidFill>
            <a:srgbClr val="14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4663440" y="3630168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C2FF"/>
                </a:solidFill>
              </a:rPr>
              <a:t>Speed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5897880" y="3630168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Single-pass inference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4663440" y="3803904"/>
            <a:ext cx="3840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CCCCC"/>
                </a:solidFill>
              </a:rPr>
              <a:t>No ensemble overhead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4718304" y="2834640"/>
            <a:ext cx="4169663" cy="1170432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4809744" y="2862072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AAAAAA"/>
                </a:solidFill>
              </a:rPr>
              <a:t>📷 IMAGE PROMPT: Two-panel side-by-side comparison on dark background — LEFT: Sentinel-1 SAR greyscale satellite image of flood region. RIGHT: Model prediction overlay with cyan=flood, gold=water body, dark=no-flood. Clean, scientific style, no extra text.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256032" y="4937760"/>
            <a:ext cx="86319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66688"/>
                </a:solidFill>
              </a:rPr>
              <a:t>ANRF AISEHack 2026 Edition 1 – Phase 2 Finale, IIIT Hyderabad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angle 19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228600" y="1371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FF"/>
                </a:solidFill>
              </a:rPr>
              <a:t>WHY IT WORKS · CHALLENGES &amp; PIVOTS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228600" y="34747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Physics reasoning + Strategic pivots that shaped final approach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256032" y="731520"/>
            <a:ext cx="8631936" cy="2286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256032" y="822960"/>
            <a:ext cx="4251960" cy="1051560"/>
          </a:xfrm>
          <a:prstGeom prst="rect">
            <a:avLst/>
          </a:prstGeom>
          <a:solidFill>
            <a:srgbClr val="14142A"/>
          </a:solidFill>
          <a:ln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347472" y="886968"/>
            <a:ext cx="4069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</a:rPr>
              <a:t>Prithvi EO v2
Transfer Learning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347472" y="1124712"/>
            <a:ext cx="4069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00">
                <a:solidFill>
                  <a:srgbClr val="CCCCCC"/>
                </a:solidFill>
              </a:rPr>
              <a:t>• Pre-trained on Sentinel-2 global imagery; its ViT attention mechanism naturally captures multi-scale SAR texture patterns under fine-tuning.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256032" y="1965960"/>
            <a:ext cx="4251960" cy="1051560"/>
          </a:xfrm>
          <a:prstGeom prst="rect">
            <a:avLst/>
          </a:prstGeom>
          <a:solidFill>
            <a:srgbClr val="14142A"/>
          </a:solidFill>
          <a:ln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347472" y="2029967"/>
            <a:ext cx="4069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</a:rPr>
              <a:t>Fast-HAND Proxy
instead of Full D8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347472" y="2267712"/>
            <a:ext cx="4069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00">
                <a:solidFill>
                  <a:srgbClr val="CCCCCC"/>
                </a:solidFill>
              </a:rPr>
              <a:t>• DEM − local_min(DEM, 450m) approximates Height Above Nearest Drainage ~100× faster. Flood water accumulates in low-HAND basins — directly encoded.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256032" y="3108960"/>
            <a:ext cx="4251960" cy="1051560"/>
          </a:xfrm>
          <a:prstGeom prst="rect">
            <a:avLst/>
          </a:prstGeom>
          <a:solidFill>
            <a:srgbClr val="14142A"/>
          </a:solidFill>
          <a:ln>
            <a:solidFill>
              <a:srgbClr val="7C3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347472" y="3172968"/>
            <a:ext cx="4069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</a:rPr>
              <a:t>Dice Loss for
Class Imbalance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347472" y="3410712"/>
            <a:ext cx="4069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00">
                <a:solidFill>
                  <a:srgbClr val="CCCCCC"/>
                </a:solidFill>
              </a:rPr>
              <a:t>• Flood pixels are rare (&lt;5 % of image). Dice loss optimises F1/IoU directly, unaffected by majority-class dominance. CE+Dice combo gives stable gradients.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4663440" y="822960"/>
            <a:ext cx="4251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Strategic Pivots Taken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4663440" y="1133856"/>
            <a:ext cx="4224528" cy="804672"/>
          </a:xfrm>
          <a:prstGeom prst="rect">
            <a:avLst/>
          </a:prstGeom>
          <a:solidFill>
            <a:srgbClr val="14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4663440" y="1133856"/>
            <a:ext cx="45720" cy="80467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4773168" y="1170432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D700"/>
                </a:solidFill>
              </a:rPr>
              <a:t>↪ Full D8 HAND → Fast-HAND Proxy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4773168" y="1408176"/>
            <a:ext cx="4023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CCCC"/>
                </a:solidFill>
              </a:rPr>
              <a:t>Full TauDEM/WhiteboxTools D8 HAND was prohibitively slow on Kaggle GPUs. Pivoted to local-minimum approximation (~100× faster, physically motivated).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4663440" y="2011680"/>
            <a:ext cx="4224528" cy="804672"/>
          </a:xfrm>
          <a:prstGeom prst="rect">
            <a:avLst/>
          </a:prstGeom>
          <a:solidFill>
            <a:srgbClr val="14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4663440" y="2011680"/>
            <a:ext cx="45720" cy="80467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4773168" y="2048256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D700"/>
                </a:solidFill>
              </a:rPr>
              <a:t>↪ DEM Mosaic → Patch-level Reproject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4773168" y="2286000"/>
            <a:ext cx="4023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CCCC"/>
                </a:solidFill>
              </a:rPr>
              <a:t>rasterio.merge() caused OOM on large AOIs. Pivoted to master-DEM approach with per-patch reprojection — significant memory savings.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4663440" y="2889504"/>
            <a:ext cx="4224528" cy="804672"/>
          </a:xfrm>
          <a:prstGeom prst="rect">
            <a:avLst/>
          </a:prstGeom>
          <a:solidFill>
            <a:srgbClr val="14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4663440" y="2889504"/>
            <a:ext cx="45720" cy="80467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4773168" y="2926080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D700"/>
                </a:solidFill>
              </a:rPr>
              <a:t>↪ Dry SAR as Band → Optional Context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4773168" y="3163824"/>
            <a:ext cx="4023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CCCC"/>
                </a:solidFill>
              </a:rPr>
              <a:t>Polarisation inconsistencies across acquisition dates made mandatory dry-SAR band unreliable. Refactored as optional contextual feature.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4663440" y="3767328"/>
            <a:ext cx="4224528" cy="804672"/>
          </a:xfrm>
          <a:prstGeom prst="rect">
            <a:avLst/>
          </a:prstGeom>
          <a:solidFill>
            <a:srgbClr val="14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4663440" y="3767328"/>
            <a:ext cx="45720" cy="80467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4773168" y="3803904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D700"/>
                </a:solidFill>
              </a:rPr>
              <a:t>↪ DEM North-Up Fix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4773168" y="4041648"/>
            <a:ext cx="4023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CCCC"/>
                </a:solidFill>
              </a:rPr>
              <a:t>Copernicus DEM tiles occasionally returned south-up orientation (positive y pixel). Added north-up check + conditional flip before reprojection.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256032" y="4937760"/>
            <a:ext cx="86319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66688"/>
                </a:solidFill>
              </a:rPr>
              <a:t>ANRF AISEHack 2026 Edition 1 – Phase 2 Finale, IIIT Hyderabad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Rectangle 2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228600" y="13716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FF99"/>
                </a:solidFill>
              </a:rPr>
              <a:t>FUTURE WORK — IMPLEMENTED ✅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28600" y="34747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Novel Extensions Planned in Mid-Submission — Now Delivered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256032" y="731520"/>
            <a:ext cx="8631936" cy="2286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256032" y="841248"/>
            <a:ext cx="2788920" cy="3520440"/>
          </a:xfrm>
          <a:prstGeom prst="rect">
            <a:avLst/>
          </a:prstGeom>
          <a:solidFill>
            <a:srgbClr val="14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256032" y="841248"/>
            <a:ext cx="2788920" cy="4114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347472" y="87782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2FF"/>
                </a:solidFill>
              </a:rPr>
              <a:t>01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758952" y="886968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2FF"/>
                </a:solidFill>
              </a:rPr>
              <a:t>SAR Temporal Difference Band  ★ Implemented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347472" y="1097280"/>
            <a:ext cx="2606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CCCCC"/>
                </a:solidFill>
              </a:rPr>
              <a:t>Change Detection via Dry-Condition Pre-event SAR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347472" y="1307592"/>
            <a:ext cx="2606040" cy="1828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347472" y="1371600"/>
            <a:ext cx="2606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850">
                <a:solidFill>
                  <a:srgbClr val="CCCCCC"/>
                </a:solidFill>
              </a:rPr>
              <a:t>• Fetches pre-flood dry Sentinel-1 SAR via Microsoft Planetary Computer STAC API</a:t>
            </a:r>
          </a:p>
          <a:p>
            <a:pPr>
              <a:spcBef>
                <a:spcPts val="500"/>
              </a:spcBef>
            </a:pPr>
            <a:r>
              <a:rPr sz="850">
                <a:solidFill>
                  <a:srgbClr val="CCCCCC"/>
                </a:solidFill>
              </a:rPr>
              <a:t>• Computes log-ratio change band: ΔdB = 10·log₁₀(SAR_flood / SAR_dry)</a:t>
            </a:r>
          </a:p>
          <a:p>
            <a:pPr>
              <a:spcBef>
                <a:spcPts val="500"/>
              </a:spcBef>
            </a:pPr>
            <a:r>
              <a:rPr sz="850">
                <a:solidFill>
                  <a:srgbClr val="CCCCCC"/>
                </a:solidFill>
              </a:rPr>
              <a:t>• Flooded surfaces show marked backscatter decrease — strong physical inundation signal</a:t>
            </a:r>
          </a:p>
          <a:p>
            <a:pPr>
              <a:spcBef>
                <a:spcPts val="500"/>
              </a:spcBef>
            </a:pPr>
            <a:r>
              <a:rPr sz="850">
                <a:solidFill>
                  <a:srgbClr val="CCCCCC"/>
                </a:solidFill>
              </a:rPr>
              <a:t>• Integrated as additional contextual band in the pipeline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3163824" y="841248"/>
            <a:ext cx="2788920" cy="3520440"/>
          </a:xfrm>
          <a:prstGeom prst="rect">
            <a:avLst/>
          </a:prstGeom>
          <a:solidFill>
            <a:srgbClr val="14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3163824" y="841248"/>
            <a:ext cx="2788920" cy="4114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3255264" y="87782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C3AFF"/>
                </a:solidFill>
              </a:rPr>
              <a:t>02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3666744" y="886968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C3AFF"/>
                </a:solidFill>
              </a:rPr>
              <a:t>GPM/ERA5 Rainfall Accumulation Layer  ★ Implemented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3255264" y="1097280"/>
            <a:ext cx="2606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CCCCC"/>
                </a:solidFill>
              </a:rPr>
              <a:t>Antecedent Soil Moisture Signal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3255264" y="1307592"/>
            <a:ext cx="2606040" cy="1828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3255264" y="1371600"/>
            <a:ext cx="2606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850">
                <a:solidFill>
                  <a:srgbClr val="CCCCCC"/>
                </a:solidFill>
              </a:rPr>
              <a:t>• Ingests GPM IMERG / ERA5 accumulated rainfall rasters for 24h / 72h prior to acquisition</a:t>
            </a:r>
          </a:p>
          <a:p>
            <a:pPr>
              <a:spcBef>
                <a:spcPts val="500"/>
              </a:spcBef>
            </a:pPr>
            <a:r>
              <a:rPr sz="850">
                <a:solidFill>
                  <a:srgbClr val="CCCCCC"/>
                </a:solidFill>
              </a:rPr>
              <a:t>• Encodes antecedent soil moisture &amp; precipitation forcing — critical for distinguishing surface runoff vs inundation</a:t>
            </a:r>
          </a:p>
          <a:p>
            <a:pPr>
              <a:spcBef>
                <a:spcPts val="500"/>
              </a:spcBef>
            </a:pPr>
            <a:r>
              <a:rPr sz="850">
                <a:solidFill>
                  <a:srgbClr val="CCCCCC"/>
                </a:solidFill>
              </a:rPr>
              <a:t>• Merged into feature stack as additional rainfall-context band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6071616" y="841248"/>
            <a:ext cx="2788920" cy="3520440"/>
          </a:xfrm>
          <a:prstGeom prst="rect">
            <a:avLst/>
          </a:prstGeom>
          <a:solidFill>
            <a:srgbClr val="14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6071616" y="841248"/>
            <a:ext cx="2788920" cy="411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6163056" y="87782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00"/>
                </a:solidFill>
              </a:rPr>
              <a:t>03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6574536" y="886968"/>
            <a:ext cx="2240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D700"/>
                </a:solidFill>
              </a:rPr>
              <a:t>Morphological Flood vs Water Post-processing  ★ Implemented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6163056" y="1097280"/>
            <a:ext cx="2606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CCCCC"/>
                </a:solidFill>
              </a:rPr>
              <a:t>Shape-based Permanent Water vs Flood Classification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6163056" y="1307592"/>
            <a:ext cx="2606040" cy="182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6163056" y="1371600"/>
            <a:ext cx="2606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850">
                <a:solidFill>
                  <a:srgbClr val="CCCCCC"/>
                </a:solidFill>
              </a:rPr>
              <a:t>• Permanent water: compact, high-circularity, stable boundaries</a:t>
            </a:r>
          </a:p>
          <a:p>
            <a:pPr>
              <a:spcBef>
                <a:spcPts val="500"/>
              </a:spcBef>
            </a:pPr>
            <a:r>
              <a:rPr sz="850">
                <a:solidFill>
                  <a:srgbClr val="CCCCCC"/>
                </a:solidFill>
              </a:rPr>
              <a:t>• Flood inundation: irregular, dendritic, elongated — follows terrain contours</a:t>
            </a:r>
          </a:p>
          <a:p>
            <a:pPr>
              <a:spcBef>
                <a:spcPts val="500"/>
              </a:spcBef>
            </a:pPr>
            <a:r>
              <a:rPr sz="850">
                <a:solidFill>
                  <a:srgbClr val="CCCCCC"/>
                </a:solidFill>
              </a:rPr>
              <a:t>• Circularity score = 4π·Area/Perimeter² applied per connected component</a:t>
            </a:r>
          </a:p>
          <a:p>
            <a:pPr>
              <a:spcBef>
                <a:spcPts val="500"/>
              </a:spcBef>
            </a:pPr>
            <a:r>
              <a:rPr sz="850">
                <a:solidFill>
                  <a:srgbClr val="CCCCCC"/>
                </a:solidFill>
              </a:rPr>
              <a:t>• Corrects misclassification at Flood ↔ Permanent Water Body boundary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256032" y="4434840"/>
            <a:ext cx="8631936" cy="41148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347472" y="4462272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AAAAAA"/>
                </a:solidFill>
              </a:rPr>
              <a:t>📷 IMAGE PROMPT: Three-panel infographic on dark background — Panel 1: Time-series SAR before/after flood with log-ratio change heatmap in orange-blue. Panel 2: Rainfall intensity raster overlaid on terrain. Panel 3: Morphological shape analysis circles vs dendritic flood shapes. Minimalist, scientific, cyan/purple/gold palette.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256032" y="4937760"/>
            <a:ext cx="86319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66688"/>
                </a:solidFill>
              </a:rPr>
              <a:t>ANRF AISEHack 2026 Edition 1 – Phase 2 Finale, IIIT Hyderabad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Rectangle 26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228600" y="1371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2FF"/>
                </a:solidFill>
              </a:rPr>
              <a:t>SUMMARY &amp; DIFFERENTIATORS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228600" y="347472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What makes Team ENDRA's approach unique?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256032" y="804672"/>
            <a:ext cx="8631936" cy="22860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256032" y="914400"/>
            <a:ext cx="4251960" cy="932688"/>
          </a:xfrm>
          <a:prstGeom prst="rect">
            <a:avLst/>
          </a:prstGeom>
          <a:solidFill>
            <a:srgbClr val="12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256032" y="914400"/>
            <a:ext cx="50292" cy="93268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402336" y="969264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</a:rPr>
              <a:t>🛰 Foundation Model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402336" y="1225296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Prithvi EO v2 — only approach using NASA/IBM's EO-specific ViT vs generic CNNs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256032" y="1938528"/>
            <a:ext cx="4251960" cy="932688"/>
          </a:xfrm>
          <a:prstGeom prst="rect">
            <a:avLst/>
          </a:prstGeom>
          <a:solidFill>
            <a:srgbClr val="12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256032" y="1938528"/>
            <a:ext cx="50292" cy="93268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402336" y="1993392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</a:rPr>
              <a:t>⚡ Fast-HAND ×100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402336" y="2249424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Physics proxy 100× faster than D8 HAND; preserves hydrological signal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256032" y="2962656"/>
            <a:ext cx="4251960" cy="932688"/>
          </a:xfrm>
          <a:prstGeom prst="rect">
            <a:avLst/>
          </a:prstGeom>
          <a:solidFill>
            <a:srgbClr val="12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256032" y="2962656"/>
            <a:ext cx="50292" cy="93268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402336" y="3017520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</a:rPr>
              <a:t>🎯 Hybrid Loss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402336" y="3273552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CE+Dice with flood-class weight 5× — directly optimises competition metric IoU_1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4636008" y="914400"/>
            <a:ext cx="4251960" cy="932688"/>
          </a:xfrm>
          <a:prstGeom prst="rect">
            <a:avLst/>
          </a:prstGeom>
          <a:solidFill>
            <a:srgbClr val="12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4636008" y="914400"/>
            <a:ext cx="50292" cy="93268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4782312" y="969264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FF"/>
                </a:solidFill>
              </a:rPr>
              <a:t>🌊 Change Detection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4782312" y="1225296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Log-ratio SAR temporal diff (dry → flood) as explicit inundation evidence band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4636008" y="1938528"/>
            <a:ext cx="4251960" cy="932688"/>
          </a:xfrm>
          <a:prstGeom prst="rect">
            <a:avLst/>
          </a:prstGeom>
          <a:solidFill>
            <a:srgbClr val="12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4636008" y="1938528"/>
            <a:ext cx="50292" cy="93268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4782312" y="1993392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FF"/>
                </a:solidFill>
              </a:rPr>
              <a:t>🌧 Rainfall Context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4782312" y="2249424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GPM/ERA5 antecedent precipitation embedded as spatial feature — rare in competition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4636008" y="2962656"/>
            <a:ext cx="4251960" cy="932688"/>
          </a:xfrm>
          <a:prstGeom prst="rect">
            <a:avLst/>
          </a:prstGeom>
          <a:solidFill>
            <a:srgbClr val="12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4636008" y="2962656"/>
            <a:ext cx="50292" cy="932688"/>
          </a:xfrm>
          <a:prstGeom prst="rect">
            <a:avLst/>
          </a:prstGeom>
          <a:solidFill>
            <a:srgbClr val="7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4782312" y="3017520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FF"/>
                </a:solidFill>
              </a:rPr>
              <a:t>🔮 Morphology PP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4782312" y="3273552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Circularity-based shape analysis separates flood from permanent water at boundary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256032" y="4005072"/>
            <a:ext cx="8631936" cy="640080"/>
          </a:xfrm>
          <a:prstGeom prst="rect">
            <a:avLst/>
          </a:prstGeom>
          <a:solidFill>
            <a:srgbClr val="08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256032" y="4005072"/>
            <a:ext cx="8631936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TextBox 297"/>
          <p:cNvSpPr txBox="1"/>
          <p:nvPr/>
        </p:nvSpPr>
        <p:spPr>
          <a:xfrm>
            <a:off x="347472" y="4059936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Thank you — Team ENDRA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347472" y="4315968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</a:rPr>
              <a:t>Dataset: Kaggle (anrfaisehack-theme-1-phase2)  ·  DEM &amp; SAR: Copernicus / Planetary Computer STAC  ·  Model: Prithvi EO v2 via TerraTorch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256032" y="4892040"/>
            <a:ext cx="86319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66688"/>
                </a:solidFill>
              </a:rPr>
              <a:t>ANRF AISEHack 2026 Edition 1 – Phase 2 Finale, IIIT Hyderabad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2026-03-09T00:17:53Z</dcterms:created>
  <dc:creator>PptxGenJS</dc:creator>
</cp:coreProperties>
</file>