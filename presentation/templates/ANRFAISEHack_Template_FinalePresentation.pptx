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 roundtripDataSignature="AMtx7mhQ6qdNgP8AWPMVavLjc/T+7hEX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customschemas.google.com/relationships/presentationmetadata" Target="metadata"/><Relationship Id="rId10"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84" name="Google Shape;8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19" name="Google Shape;11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59" name="Google Shape;15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92" name="Google Shape;19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488ec2be2_0_0: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g3d488ec2be2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31" name="Google Shape;231;g3d488ec2be2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65" name="Google Shape;26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2"/>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5" name="Google Shape;15;p1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13"/>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 name="Google Shape;21;p1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14"/>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27" name="Google Shape;27;p1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15"/>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 name="Google Shape;33;p15"/>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4" name="Google Shape;34;p1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16"/>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0" name="Google Shape;40;p16"/>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 name="Google Shape;41;p16"/>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2" name="Google Shape;42;p16"/>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 name="Google Shape;43;p1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17"/>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19"/>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58" name="Google Shape;58;p19"/>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9" name="Google Shape;59;p1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20"/>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p:nvPr>
            <p:ph idx="2" type="pic"/>
          </p:nvPr>
        </p:nvSpPr>
        <p:spPr>
          <a:xfrm>
            <a:off x="3887391" y="740569"/>
            <a:ext cx="4629150" cy="3655219"/>
          </a:xfrm>
          <a:prstGeom prst="rect">
            <a:avLst/>
          </a:prstGeom>
          <a:noFill/>
          <a:ln>
            <a:noFill/>
          </a:ln>
        </p:spPr>
      </p:sp>
      <p:sp>
        <p:nvSpPr>
          <p:cNvPr id="65" name="Google Shape;65;p20"/>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6" name="Google Shape;66;p2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21"/>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2" name="Google Shape;72;p2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22"/>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8" name="Google Shape;78;p2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p:nvPr/>
        </p:nvSpPr>
        <p:spPr>
          <a:xfrm>
            <a:off x="0" y="0"/>
            <a:ext cx="9144000" cy="6400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
          <p:cNvSpPr/>
          <p:nvPr/>
        </p:nvSpPr>
        <p:spPr>
          <a:xfrm>
            <a:off x="0" y="67740"/>
            <a:ext cx="4288349" cy="4910328"/>
          </a:xfrm>
          <a:prstGeom prst="rect">
            <a:avLst/>
          </a:prstGeom>
          <a:solidFill>
            <a:schemeClr val="lt2"/>
          </a:solidFill>
          <a:ln cap="flat" cmpd="sng" w="12700">
            <a:solidFill>
              <a:srgbClr val="0B192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p:nvPr/>
        </p:nvSpPr>
        <p:spPr>
          <a:xfrm>
            <a:off x="4288349" y="64008"/>
            <a:ext cx="4758612" cy="4910328"/>
          </a:xfrm>
          <a:prstGeom prst="rect">
            <a:avLst/>
          </a:prstGeom>
          <a:solidFill>
            <a:schemeClr val="lt1"/>
          </a:solidFill>
          <a:ln cap="flat" cmpd="sng" w="12700">
            <a:solidFill>
              <a:srgbClr val="0F213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
          <p:cNvSpPr/>
          <p:nvPr/>
        </p:nvSpPr>
        <p:spPr>
          <a:xfrm>
            <a:off x="4334069" y="64008"/>
            <a:ext cx="45719" cy="4910328"/>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457200" y="419318"/>
            <a:ext cx="4937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F3F3F"/>
              </a:buClr>
              <a:buSzPts val="1100"/>
              <a:buFont typeface="Calibri"/>
              <a:buNone/>
            </a:pPr>
            <a:r>
              <a:rPr b="1" i="0" lang="en-US" sz="1100" u="none" cap="none" strike="noStrike">
                <a:solidFill>
                  <a:srgbClr val="3F3F3F"/>
                </a:solidFill>
                <a:latin typeface="Calibri"/>
                <a:ea typeface="Calibri"/>
                <a:cs typeface="Calibri"/>
                <a:sym typeface="Calibri"/>
              </a:rPr>
              <a:t>Date: 5</a:t>
            </a:r>
            <a:r>
              <a:rPr b="1" baseline="30000" i="0" lang="en-US" sz="1100" u="none" cap="none" strike="noStrike">
                <a:solidFill>
                  <a:srgbClr val="3F3F3F"/>
                </a:solidFill>
                <a:latin typeface="Calibri"/>
                <a:ea typeface="Calibri"/>
                <a:cs typeface="Calibri"/>
                <a:sym typeface="Calibri"/>
              </a:rPr>
              <a:t>th</a:t>
            </a:r>
            <a:r>
              <a:rPr b="1" i="0" lang="en-US" sz="1100" u="none" cap="none" strike="noStrike">
                <a:solidFill>
                  <a:srgbClr val="3F3F3F"/>
                </a:solidFill>
                <a:latin typeface="Calibri"/>
                <a:ea typeface="Calibri"/>
                <a:cs typeface="Calibri"/>
                <a:sym typeface="Calibri"/>
              </a:rPr>
              <a:t> April, 2026</a:t>
            </a:r>
            <a:endParaRPr b="1" i="0" sz="1100" u="none" cap="none" strike="noStrike">
              <a:solidFill>
                <a:srgbClr val="3F3F3F"/>
              </a:solidFill>
              <a:latin typeface="Calibri"/>
              <a:ea typeface="Calibri"/>
              <a:cs typeface="Calibri"/>
              <a:sym typeface="Calibri"/>
            </a:endParaRPr>
          </a:p>
          <a:p>
            <a:pPr indent="0" lvl="0" marL="0" marR="0" rtl="0" algn="l">
              <a:lnSpc>
                <a:spcPct val="100000"/>
              </a:lnSpc>
              <a:spcBef>
                <a:spcPts val="0"/>
              </a:spcBef>
              <a:spcAft>
                <a:spcPts val="0"/>
              </a:spcAft>
              <a:buClr>
                <a:srgbClr val="3F3F3F"/>
              </a:buClr>
              <a:buSzPts val="1100"/>
              <a:buFont typeface="Calibri"/>
              <a:buNone/>
            </a:pPr>
            <a:r>
              <a:t/>
            </a:r>
            <a:endParaRPr b="1" i="0" sz="1100" u="none" cap="none" strike="noStrike">
              <a:solidFill>
                <a:srgbClr val="3F3F3F"/>
              </a:solidFill>
              <a:latin typeface="Calibri"/>
              <a:ea typeface="Calibri"/>
              <a:cs typeface="Calibri"/>
              <a:sym typeface="Calibri"/>
            </a:endParaRPr>
          </a:p>
        </p:txBody>
      </p:sp>
      <p:sp>
        <p:nvSpPr>
          <p:cNvPr id="91" name="Google Shape;91;p1"/>
          <p:cNvSpPr/>
          <p:nvPr/>
        </p:nvSpPr>
        <p:spPr>
          <a:xfrm>
            <a:off x="1770424" y="583825"/>
            <a:ext cx="2271000" cy="24879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0A896"/>
              </a:buClr>
              <a:buSzPts val="5400"/>
              <a:buFont typeface="Calibri"/>
              <a:buNone/>
            </a:pPr>
            <a:r>
              <a:rPr b="1" i="1" lang="en-US" sz="3000">
                <a:solidFill>
                  <a:srgbClr val="00A896"/>
                </a:solidFill>
                <a:latin typeface="Calibri"/>
                <a:ea typeface="Calibri"/>
                <a:cs typeface="Calibri"/>
                <a:sym typeface="Calibri"/>
              </a:rPr>
              <a:t>ANRF </a:t>
            </a:r>
            <a:r>
              <a:rPr b="1" i="1" lang="en-US" sz="3000" u="none" cap="none" strike="noStrike">
                <a:solidFill>
                  <a:srgbClr val="00A896"/>
                </a:solidFill>
                <a:latin typeface="Calibri"/>
                <a:ea typeface="Calibri"/>
                <a:cs typeface="Calibri"/>
                <a:sym typeface="Calibri"/>
              </a:rPr>
              <a:t>AISEHack </a:t>
            </a:r>
            <a:endParaRPr b="1" i="1" sz="3000" u="none" cap="none" strike="noStrike">
              <a:solidFill>
                <a:srgbClr val="00A896"/>
              </a:solidFill>
              <a:latin typeface="Calibri"/>
              <a:ea typeface="Calibri"/>
              <a:cs typeface="Calibri"/>
              <a:sym typeface="Calibri"/>
            </a:endParaRPr>
          </a:p>
          <a:p>
            <a:pPr indent="0" lvl="0" marL="0" marR="0" rtl="0" algn="l">
              <a:lnSpc>
                <a:spcPct val="110000"/>
              </a:lnSpc>
              <a:spcBef>
                <a:spcPts val="0"/>
              </a:spcBef>
              <a:spcAft>
                <a:spcPts val="0"/>
              </a:spcAft>
              <a:buClr>
                <a:srgbClr val="00A896"/>
              </a:buClr>
              <a:buSzPts val="5400"/>
              <a:buFont typeface="Calibri"/>
              <a:buNone/>
            </a:pPr>
            <a:r>
              <a:rPr b="1" i="1" lang="en-US" sz="3000" u="none" cap="none" strike="noStrike">
                <a:solidFill>
                  <a:srgbClr val="00A896"/>
                </a:solidFill>
                <a:latin typeface="Calibri"/>
                <a:ea typeface="Calibri"/>
                <a:cs typeface="Calibri"/>
                <a:sym typeface="Calibri"/>
              </a:rPr>
              <a:t>2026</a:t>
            </a:r>
            <a:br>
              <a:rPr b="1" i="1" lang="en-US" sz="5400" u="none" cap="none" strike="noStrike">
                <a:solidFill>
                  <a:srgbClr val="00A896"/>
                </a:solidFill>
                <a:latin typeface="Calibri"/>
                <a:ea typeface="Calibri"/>
                <a:cs typeface="Calibri"/>
                <a:sym typeface="Calibri"/>
              </a:rPr>
            </a:br>
            <a:r>
              <a:rPr b="1" i="1" lang="en-US" sz="1600" u="none" cap="none" strike="noStrike">
                <a:solidFill>
                  <a:srgbClr val="3F3F3F"/>
                </a:solidFill>
                <a:latin typeface="Calibri"/>
                <a:ea typeface="Calibri"/>
                <a:cs typeface="Calibri"/>
                <a:sym typeface="Calibri"/>
              </a:rPr>
              <a:t>Finale presentation  | Theme : &lt;&gt;</a:t>
            </a:r>
            <a:endParaRPr b="0" i="0" sz="1600" u="none" cap="none" strike="noStrike">
              <a:solidFill>
                <a:srgbClr val="3F3F3F"/>
              </a:solidFill>
              <a:latin typeface="Calibri"/>
              <a:ea typeface="Calibri"/>
              <a:cs typeface="Calibri"/>
              <a:sym typeface="Calibri"/>
            </a:endParaRPr>
          </a:p>
        </p:txBody>
      </p:sp>
      <p:sp>
        <p:nvSpPr>
          <p:cNvPr id="92" name="Google Shape;92;p1"/>
          <p:cNvSpPr/>
          <p:nvPr/>
        </p:nvSpPr>
        <p:spPr>
          <a:xfrm>
            <a:off x="584715" y="2679882"/>
            <a:ext cx="2271160" cy="1430041"/>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0000"/>
              </a:buClr>
              <a:buSzPts val="1200"/>
              <a:buFont typeface="Arial"/>
              <a:buNone/>
            </a:pPr>
            <a:r>
              <a:rPr b="0" i="0" lang="en-US" sz="1200" u="none" cap="none" strike="noStrike">
                <a:solidFill>
                  <a:srgbClr val="3F3F3F"/>
                </a:solidFill>
                <a:latin typeface="Calibri"/>
                <a:ea typeface="Calibri"/>
                <a:cs typeface="Calibri"/>
                <a:sym typeface="Calibri"/>
              </a:rPr>
              <a:t>Authors / Team Name</a:t>
            </a:r>
            <a:endParaRPr b="0" i="0" sz="1200" u="none" cap="none" strike="noStrike">
              <a:solidFill>
                <a:srgbClr val="3F3F3F"/>
              </a:solidFill>
              <a:latin typeface="Calibri"/>
              <a:ea typeface="Calibri"/>
              <a:cs typeface="Calibri"/>
              <a:sym typeface="Calibri"/>
            </a:endParaRPr>
          </a:p>
        </p:txBody>
      </p:sp>
      <p:sp>
        <p:nvSpPr>
          <p:cNvPr id="93" name="Google Shape;93;p1"/>
          <p:cNvSpPr/>
          <p:nvPr/>
        </p:nvSpPr>
        <p:spPr>
          <a:xfrm>
            <a:off x="4425508" y="358475"/>
            <a:ext cx="4581332"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Your salient contributions</a:t>
            </a:r>
            <a:r>
              <a:rPr b="1" lang="en-US" sz="1600">
                <a:solidFill>
                  <a:srgbClr val="00A896"/>
                </a:solidFill>
                <a:latin typeface="Calibri"/>
                <a:ea typeface="Calibri"/>
                <a:cs typeface="Calibri"/>
                <a:sym typeface="Calibri"/>
              </a:rPr>
              <a:t> </a:t>
            </a:r>
            <a:endParaRPr b="1" i="0" sz="1600" u="none" cap="none" strike="noStrike">
              <a:solidFill>
                <a:schemeClr val="dk1"/>
              </a:solidFill>
              <a:latin typeface="Calibri"/>
              <a:ea typeface="Calibri"/>
              <a:cs typeface="Calibri"/>
              <a:sym typeface="Calibri"/>
            </a:endParaRPr>
          </a:p>
        </p:txBody>
      </p:sp>
      <p:sp>
        <p:nvSpPr>
          <p:cNvPr id="94" name="Google Shape;94;p1"/>
          <p:cNvSpPr/>
          <p:nvPr/>
        </p:nvSpPr>
        <p:spPr>
          <a:xfrm>
            <a:off x="4520696" y="802322"/>
            <a:ext cx="4394705" cy="1261872"/>
          </a:xfrm>
          <a:prstGeom prst="rect">
            <a:avLst/>
          </a:prstGeom>
          <a:solidFill>
            <a:schemeClr val="lt2"/>
          </a:solidFill>
          <a:ln cap="flat" cmpd="sng" w="12700">
            <a:solidFill>
              <a:srgbClr val="1C33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1"/>
          <p:cNvSpPr/>
          <p:nvPr/>
        </p:nvSpPr>
        <p:spPr>
          <a:xfrm>
            <a:off x="4520696" y="809892"/>
            <a:ext cx="45720" cy="1261872"/>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4832145" y="1102764"/>
            <a:ext cx="610782" cy="219456"/>
          </a:xfrm>
          <a:prstGeom prst="rect">
            <a:avLst/>
          </a:prstGeom>
          <a:solidFill>
            <a:srgbClr val="00A896">
              <a:alpha val="20000"/>
            </a:srgbClr>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4832149" y="1102764"/>
            <a:ext cx="610782" cy="21945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700"/>
              <a:buFont typeface="Calibri"/>
              <a:buNone/>
            </a:pPr>
            <a:r>
              <a:rPr b="1" i="0" lang="en-US" sz="700" u="none" cap="none" strike="noStrike">
                <a:solidFill>
                  <a:srgbClr val="00A896"/>
                </a:solidFill>
                <a:latin typeface="Calibri"/>
                <a:ea typeface="Calibri"/>
                <a:cs typeface="Calibri"/>
                <a:sym typeface="Calibri"/>
              </a:rPr>
              <a:t>f1</a:t>
            </a:r>
            <a:endParaRPr b="0" i="0" sz="700" u="none" cap="none" strike="noStrike">
              <a:solidFill>
                <a:schemeClr val="dk1"/>
              </a:solidFill>
              <a:latin typeface="Calibri"/>
              <a:ea typeface="Calibri"/>
              <a:cs typeface="Calibri"/>
              <a:sym typeface="Calibri"/>
            </a:endParaRPr>
          </a:p>
        </p:txBody>
      </p:sp>
      <p:sp>
        <p:nvSpPr>
          <p:cNvPr id="98" name="Google Shape;98;p1"/>
          <p:cNvSpPr/>
          <p:nvPr/>
        </p:nvSpPr>
        <p:spPr>
          <a:xfrm>
            <a:off x="5557228" y="1078344"/>
            <a:ext cx="3417609"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Modelling strategy</a:t>
            </a:r>
            <a:endParaRPr>
              <a:latin typeface="Calibri"/>
              <a:ea typeface="Calibri"/>
              <a:cs typeface="Calibri"/>
              <a:sym typeface="Calibri"/>
            </a:endParaRPr>
          </a:p>
        </p:txBody>
      </p:sp>
      <p:sp>
        <p:nvSpPr>
          <p:cNvPr id="99" name="Google Shape;99;p1"/>
          <p:cNvSpPr/>
          <p:nvPr/>
        </p:nvSpPr>
        <p:spPr>
          <a:xfrm>
            <a:off x="4736230" y="1433258"/>
            <a:ext cx="411516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3F3F3F"/>
              </a:solidFill>
              <a:latin typeface="Calibri"/>
              <a:ea typeface="Calibri"/>
              <a:cs typeface="Calibri"/>
              <a:sym typeface="Calibri"/>
            </a:endParaRPr>
          </a:p>
        </p:txBody>
      </p:sp>
      <p:sp>
        <p:nvSpPr>
          <p:cNvPr id="100" name="Google Shape;100;p1"/>
          <p:cNvSpPr/>
          <p:nvPr/>
        </p:nvSpPr>
        <p:spPr>
          <a:xfrm>
            <a:off x="4566416" y="2199780"/>
            <a:ext cx="4394704" cy="1261872"/>
          </a:xfrm>
          <a:prstGeom prst="rect">
            <a:avLst/>
          </a:prstGeom>
          <a:solidFill>
            <a:schemeClr val="lt2"/>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
          <p:cNvSpPr/>
          <p:nvPr/>
        </p:nvSpPr>
        <p:spPr>
          <a:xfrm>
            <a:off x="4524429" y="2199780"/>
            <a:ext cx="45720" cy="1261872"/>
          </a:xfrm>
          <a:prstGeom prst="rect">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
          <p:cNvSpPr/>
          <p:nvPr/>
        </p:nvSpPr>
        <p:spPr>
          <a:xfrm>
            <a:off x="4830280" y="2438411"/>
            <a:ext cx="607050" cy="219456"/>
          </a:xfrm>
          <a:prstGeom prst="rect">
            <a:avLst/>
          </a:prstGeom>
          <a:solidFill>
            <a:schemeClr val="accent6">
              <a:alpha val="20000"/>
            </a:schemeClr>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
          <p:cNvSpPr/>
          <p:nvPr/>
        </p:nvSpPr>
        <p:spPr>
          <a:xfrm>
            <a:off x="4819082" y="2442138"/>
            <a:ext cx="607050" cy="21945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700"/>
              <a:buFont typeface="Calibri"/>
              <a:buNone/>
            </a:pPr>
            <a:r>
              <a:rPr b="1" i="0" lang="en-US" sz="700" u="none" cap="none" strike="noStrike">
                <a:solidFill>
                  <a:schemeClr val="accent6"/>
                </a:solidFill>
                <a:latin typeface="Calibri"/>
                <a:ea typeface="Calibri"/>
                <a:cs typeface="Calibri"/>
                <a:sym typeface="Calibri"/>
              </a:rPr>
              <a:t>f2</a:t>
            </a:r>
            <a:endParaRPr b="0" i="0" sz="700" u="none" cap="none" strike="noStrike">
              <a:solidFill>
                <a:schemeClr val="accent6"/>
              </a:solidFill>
              <a:latin typeface="Calibri"/>
              <a:ea typeface="Calibri"/>
              <a:cs typeface="Calibri"/>
              <a:sym typeface="Calibri"/>
            </a:endParaRPr>
          </a:p>
        </p:txBody>
      </p:sp>
      <p:sp>
        <p:nvSpPr>
          <p:cNvPr id="104" name="Google Shape;104;p1"/>
          <p:cNvSpPr/>
          <p:nvPr/>
        </p:nvSpPr>
        <p:spPr>
          <a:xfrm>
            <a:off x="5557228" y="2423850"/>
            <a:ext cx="2615184"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Training</a:t>
            </a:r>
            <a:endParaRPr b="0" i="0" sz="1150" u="none" cap="none" strike="noStrike">
              <a:solidFill>
                <a:schemeClr val="accent6"/>
              </a:solidFill>
              <a:latin typeface="Calibri"/>
              <a:ea typeface="Calibri"/>
              <a:cs typeface="Calibri"/>
              <a:sym typeface="Calibri"/>
            </a:endParaRPr>
          </a:p>
        </p:txBody>
      </p:sp>
      <p:sp>
        <p:nvSpPr>
          <p:cNvPr id="105" name="Google Shape;105;p1"/>
          <p:cNvSpPr/>
          <p:nvPr/>
        </p:nvSpPr>
        <p:spPr>
          <a:xfrm>
            <a:off x="4758622" y="2799556"/>
            <a:ext cx="4092770" cy="49294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3F3F3F"/>
              </a:solidFill>
              <a:latin typeface="Calibri"/>
              <a:ea typeface="Calibri"/>
              <a:cs typeface="Calibri"/>
              <a:sym typeface="Calibri"/>
            </a:endParaRPr>
          </a:p>
        </p:txBody>
      </p:sp>
      <p:sp>
        <p:nvSpPr>
          <p:cNvPr id="106" name="Google Shape;106;p1"/>
          <p:cNvSpPr/>
          <p:nvPr/>
        </p:nvSpPr>
        <p:spPr>
          <a:xfrm>
            <a:off x="4566416" y="3589668"/>
            <a:ext cx="4394704" cy="1261872"/>
          </a:xfrm>
          <a:prstGeom prst="rect">
            <a:avLst/>
          </a:prstGeom>
          <a:solidFill>
            <a:schemeClr val="lt2"/>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
          <p:cNvSpPr/>
          <p:nvPr/>
        </p:nvSpPr>
        <p:spPr>
          <a:xfrm>
            <a:off x="4524429" y="3589668"/>
            <a:ext cx="45720" cy="1261872"/>
          </a:xfrm>
          <a:prstGeom prst="rect">
            <a:avLst/>
          </a:prstGeom>
          <a:solidFill>
            <a:srgbClr val="5C7A94"/>
          </a:solidFill>
          <a:ln cap="flat" cmpd="sng" w="12700">
            <a:solidFill>
              <a:srgbClr val="5C7A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
          <p:cNvSpPr/>
          <p:nvPr/>
        </p:nvSpPr>
        <p:spPr>
          <a:xfrm>
            <a:off x="4832149" y="3922472"/>
            <a:ext cx="629443" cy="219456"/>
          </a:xfrm>
          <a:prstGeom prst="rect">
            <a:avLst/>
          </a:prstGeom>
          <a:solidFill>
            <a:srgbClr val="5C7A94">
              <a:alpha val="20000"/>
            </a:srgbClr>
          </a:solidFill>
          <a:ln cap="flat" cmpd="sng" w="12700">
            <a:solidFill>
              <a:srgbClr val="5C7A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
          <p:cNvSpPr/>
          <p:nvPr/>
        </p:nvSpPr>
        <p:spPr>
          <a:xfrm>
            <a:off x="4832150" y="3922466"/>
            <a:ext cx="629443" cy="21945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C7A94"/>
              </a:buClr>
              <a:buSzPts val="700"/>
              <a:buFont typeface="Calibri"/>
              <a:buNone/>
            </a:pPr>
            <a:r>
              <a:rPr b="1" i="0" lang="en-US" sz="700" u="none" cap="none" strike="noStrike">
                <a:solidFill>
                  <a:srgbClr val="5C7A94"/>
                </a:solidFill>
                <a:latin typeface="Calibri"/>
                <a:ea typeface="Calibri"/>
                <a:cs typeface="Calibri"/>
                <a:sym typeface="Calibri"/>
              </a:rPr>
              <a:t>f3</a:t>
            </a:r>
            <a:endParaRPr b="0" i="0" sz="700" u="none" cap="none" strike="noStrike">
              <a:solidFill>
                <a:schemeClr val="dk1"/>
              </a:solidFill>
              <a:latin typeface="Calibri"/>
              <a:ea typeface="Calibri"/>
              <a:cs typeface="Calibri"/>
              <a:sym typeface="Calibri"/>
            </a:endParaRPr>
          </a:p>
        </p:txBody>
      </p:sp>
      <p:sp>
        <p:nvSpPr>
          <p:cNvPr id="110" name="Google Shape;110;p1"/>
          <p:cNvSpPr/>
          <p:nvPr/>
        </p:nvSpPr>
        <p:spPr>
          <a:xfrm>
            <a:off x="5597705" y="3853892"/>
            <a:ext cx="2615184"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Results + Actions</a:t>
            </a:r>
            <a:endParaRPr b="0" i="0" sz="1150" u="none" cap="none" strike="noStrike">
              <a:solidFill>
                <a:srgbClr val="5C7A94"/>
              </a:solidFill>
              <a:latin typeface="Calibri"/>
              <a:ea typeface="Calibri"/>
              <a:cs typeface="Calibri"/>
              <a:sym typeface="Calibri"/>
            </a:endParaRPr>
          </a:p>
        </p:txBody>
      </p:sp>
      <p:sp>
        <p:nvSpPr>
          <p:cNvPr id="111" name="Google Shape;111;p1"/>
          <p:cNvSpPr/>
          <p:nvPr/>
        </p:nvSpPr>
        <p:spPr>
          <a:xfrm>
            <a:off x="4758623" y="4269944"/>
            <a:ext cx="4092769" cy="4542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3F3F3F"/>
              </a:solidFill>
              <a:latin typeface="Calibri"/>
              <a:ea typeface="Calibri"/>
              <a:cs typeface="Calibri"/>
              <a:sym typeface="Calibri"/>
            </a:endParaRPr>
          </a:p>
        </p:txBody>
      </p:sp>
      <p:sp>
        <p:nvSpPr>
          <p:cNvPr id="112" name="Google Shape;112;p1"/>
          <p:cNvSpPr/>
          <p:nvPr/>
        </p:nvSpPr>
        <p:spPr>
          <a:xfrm>
            <a:off x="0" y="4974336"/>
            <a:ext cx="9144000" cy="169164"/>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
          <p:cNvSpPr/>
          <p:nvPr/>
        </p:nvSpPr>
        <p:spPr>
          <a:xfrm>
            <a:off x="365760" y="4974336"/>
            <a:ext cx="8412480" cy="1691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8DCF0"/>
              </a:buClr>
              <a:buSzPts val="850"/>
              <a:buFont typeface="Calibri"/>
              <a:buNone/>
            </a:pPr>
            <a:r>
              <a:rPr b="0" i="0" lang="en-US" sz="850" u="none" cap="none" strike="noStrike">
                <a:solidFill>
                  <a:srgbClr val="C8DCF0"/>
                </a:solidFill>
                <a:latin typeface="Calibri"/>
                <a:ea typeface="Calibri"/>
                <a:cs typeface="Calibri"/>
                <a:sym typeface="Calibri"/>
              </a:rPr>
              <a:t>ANRF AISEHack 2026 Edition 1 – Phase 2 Finale, IIIT Hyderabad </a:t>
            </a:r>
            <a:endParaRPr b="0" i="0" sz="850" u="none" cap="none" strike="noStrike">
              <a:solidFill>
                <a:schemeClr val="dk1"/>
              </a:solidFill>
              <a:latin typeface="Calibri"/>
              <a:ea typeface="Calibri"/>
              <a:cs typeface="Calibri"/>
              <a:sym typeface="Calibri"/>
            </a:endParaRPr>
          </a:p>
        </p:txBody>
      </p:sp>
      <p:sp>
        <p:nvSpPr>
          <p:cNvPr id="114" name="Google Shape;114;p1"/>
          <p:cNvSpPr txBox="1"/>
          <p:nvPr/>
        </p:nvSpPr>
        <p:spPr>
          <a:xfrm>
            <a:off x="88725" y="3758313"/>
            <a:ext cx="39927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Calibri"/>
                <a:ea typeface="Calibri"/>
                <a:cs typeface="Calibri"/>
                <a:sym typeface="Calibri"/>
              </a:rPr>
              <a:t>* remember that you only have to furnish information regarding your final selected submissions only(although any other “relevant” observations from your experimentation process can be mentioned)</a:t>
            </a:r>
            <a:endParaRPr b="1">
              <a:solidFill>
                <a:schemeClr val="dk1"/>
              </a:solidFill>
              <a:latin typeface="Calibri"/>
              <a:ea typeface="Calibri"/>
              <a:cs typeface="Calibri"/>
              <a:sym typeface="Calibri"/>
            </a:endParaRPr>
          </a:p>
          <a:p>
            <a:pPr indent="0" lvl="0" marL="0" rtl="0" algn="l">
              <a:spcBef>
                <a:spcPts val="0"/>
              </a:spcBef>
              <a:spcAft>
                <a:spcPts val="0"/>
              </a:spcAft>
              <a:buNone/>
            </a:pPr>
            <a:r>
              <a:t/>
            </a:r>
            <a:endParaRPr b="1">
              <a:solidFill>
                <a:schemeClr val="dk1"/>
              </a:solidFill>
              <a:latin typeface="Calibri"/>
              <a:ea typeface="Calibri"/>
              <a:cs typeface="Calibri"/>
              <a:sym typeface="Calibri"/>
            </a:endParaRPr>
          </a:p>
        </p:txBody>
      </p:sp>
      <p:pic>
        <p:nvPicPr>
          <p:cNvPr id="115" name="Google Shape;115;p1" title="ANRFAISEHack_Logo.png"/>
          <p:cNvPicPr preferRelativeResize="0"/>
          <p:nvPr/>
        </p:nvPicPr>
        <p:blipFill>
          <a:blip r:embed="rId3">
            <a:alphaModFix/>
          </a:blip>
          <a:stretch>
            <a:fillRect/>
          </a:stretch>
        </p:blipFill>
        <p:spPr>
          <a:xfrm>
            <a:off x="504872" y="975800"/>
            <a:ext cx="1179759" cy="10836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
          <p:cNvSpPr/>
          <p:nvPr/>
        </p:nvSpPr>
        <p:spPr>
          <a:xfrm>
            <a:off x="0" y="0"/>
            <a:ext cx="9144000" cy="6400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
          <p:cNvSpPr/>
          <p:nvPr/>
        </p:nvSpPr>
        <p:spPr>
          <a:xfrm>
            <a:off x="0" y="64008"/>
            <a:ext cx="411480" cy="5079492"/>
          </a:xfrm>
          <a:prstGeom prst="rect">
            <a:avLst/>
          </a:prstGeom>
          <a:solidFill>
            <a:schemeClr val="lt2"/>
          </a:solidFill>
          <a:ln cap="flat" cmpd="sng" w="12700">
            <a:solidFill>
              <a:srgbClr val="0F21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
          <p:cNvSpPr/>
          <p:nvPr/>
        </p:nvSpPr>
        <p:spPr>
          <a:xfrm>
            <a:off x="402336" y="64008"/>
            <a:ext cx="13716" cy="5079492"/>
          </a:xfrm>
          <a:prstGeom prst="rect">
            <a:avLst/>
          </a:prstGeom>
          <a:solidFill>
            <a:srgbClr val="1C3350"/>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
          <p:cNvSpPr/>
          <p:nvPr/>
        </p:nvSpPr>
        <p:spPr>
          <a:xfrm rot="-5400000">
            <a:off x="-1793367" y="1228725"/>
            <a:ext cx="3989070" cy="2743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700"/>
              <a:buFont typeface="Calibri"/>
              <a:buNone/>
            </a:pPr>
            <a:r>
              <a:rPr b="1" i="0" lang="en-US" sz="700" u="none" cap="none" strike="noStrike">
                <a:solidFill>
                  <a:srgbClr val="3F3F3F"/>
                </a:solidFill>
                <a:latin typeface="Calibri"/>
                <a:ea typeface="Calibri"/>
                <a:cs typeface="Calibri"/>
                <a:sym typeface="Calibri"/>
              </a:rPr>
              <a:t>MATCHMAKING</a:t>
            </a:r>
            <a:endParaRPr b="0" i="0" sz="700" u="none" cap="none" strike="noStrike">
              <a:solidFill>
                <a:srgbClr val="3F3F3F"/>
              </a:solidFill>
              <a:latin typeface="Calibri"/>
              <a:ea typeface="Calibri"/>
              <a:cs typeface="Calibri"/>
              <a:sym typeface="Calibri"/>
            </a:endParaRPr>
          </a:p>
        </p:txBody>
      </p:sp>
      <p:sp>
        <p:nvSpPr>
          <p:cNvPr id="125" name="Google Shape;125;p2"/>
          <p:cNvSpPr/>
          <p:nvPr/>
        </p:nvSpPr>
        <p:spPr>
          <a:xfrm>
            <a:off x="548640" y="531876"/>
            <a:ext cx="8412480" cy="53035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F3F3F"/>
              </a:buClr>
              <a:buSzPts val="2200"/>
              <a:buFont typeface="Calibri"/>
              <a:buNone/>
            </a:pPr>
            <a:r>
              <a:rPr b="1" i="0" lang="en-US" sz="2200" u="none" cap="none" strike="noStrike">
                <a:solidFill>
                  <a:srgbClr val="3F3F3F"/>
                </a:solidFill>
                <a:latin typeface="Calibri"/>
                <a:ea typeface="Calibri"/>
                <a:cs typeface="Calibri"/>
                <a:sym typeface="Calibri"/>
              </a:rPr>
              <a:t>Modelling </a:t>
            </a:r>
            <a:r>
              <a:rPr b="1" i="1" lang="en-US" sz="2200" u="none" cap="none" strike="noStrike">
                <a:solidFill>
                  <a:srgbClr val="00A896"/>
                </a:solidFill>
                <a:latin typeface="Calibri"/>
                <a:ea typeface="Calibri"/>
                <a:cs typeface="Calibri"/>
                <a:sym typeface="Calibri"/>
              </a:rPr>
              <a:t>- Strategies</a:t>
            </a:r>
            <a:endParaRPr b="0" i="0" sz="2200" u="none" cap="none" strike="noStrike">
              <a:solidFill>
                <a:schemeClr val="dk1"/>
              </a:solidFill>
              <a:latin typeface="Calibri"/>
              <a:ea typeface="Calibri"/>
              <a:cs typeface="Calibri"/>
              <a:sym typeface="Calibri"/>
            </a:endParaRPr>
          </a:p>
        </p:txBody>
      </p:sp>
      <p:sp>
        <p:nvSpPr>
          <p:cNvPr id="126" name="Google Shape;126;p2"/>
          <p:cNvSpPr/>
          <p:nvPr/>
        </p:nvSpPr>
        <p:spPr>
          <a:xfrm>
            <a:off x="548640" y="1115568"/>
            <a:ext cx="8412480" cy="13716"/>
          </a:xfrm>
          <a:prstGeom prst="rect">
            <a:avLst/>
          </a:prstGeom>
          <a:solidFill>
            <a:srgbClr val="152B45"/>
          </a:solidFill>
          <a:ln cap="flat" cmpd="sng" w="12700">
            <a:solidFill>
              <a:srgbClr val="152B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553212" y="1417004"/>
            <a:ext cx="4835284" cy="960121"/>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553212" y="1417005"/>
            <a:ext cx="45719" cy="96012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
          <p:cNvSpPr/>
          <p:nvPr/>
        </p:nvSpPr>
        <p:spPr>
          <a:xfrm>
            <a:off x="644652" y="1508445"/>
            <a:ext cx="56692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01</a:t>
            </a:r>
            <a:endParaRPr b="0" i="0" sz="2600" u="none" cap="none" strike="noStrike">
              <a:solidFill>
                <a:schemeClr val="dk1"/>
              </a:solidFill>
              <a:latin typeface="Calibri"/>
              <a:ea typeface="Calibri"/>
              <a:cs typeface="Calibri"/>
              <a:sym typeface="Calibri"/>
            </a:endParaRPr>
          </a:p>
        </p:txBody>
      </p:sp>
      <p:sp>
        <p:nvSpPr>
          <p:cNvPr id="130" name="Google Shape;130;p2"/>
          <p:cNvSpPr/>
          <p:nvPr/>
        </p:nvSpPr>
        <p:spPr>
          <a:xfrm>
            <a:off x="1193291" y="1481013"/>
            <a:ext cx="3626463"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Lorem Ipsum</a:t>
            </a:r>
            <a:endParaRPr b="1" i="0" sz="1250" u="none" cap="none" strike="noStrike">
              <a:solidFill>
                <a:srgbClr val="3F3F3F"/>
              </a:solidFill>
              <a:latin typeface="Calibri"/>
              <a:ea typeface="Calibri"/>
              <a:cs typeface="Calibri"/>
              <a:sym typeface="Calibri"/>
            </a:endParaRPr>
          </a:p>
        </p:txBody>
      </p:sp>
      <p:sp>
        <p:nvSpPr>
          <p:cNvPr id="131" name="Google Shape;131;p2"/>
          <p:cNvSpPr/>
          <p:nvPr/>
        </p:nvSpPr>
        <p:spPr>
          <a:xfrm>
            <a:off x="1193292" y="1855917"/>
            <a:ext cx="3342130" cy="41478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132" name="Google Shape;132;p2"/>
          <p:cNvSpPr/>
          <p:nvPr/>
        </p:nvSpPr>
        <p:spPr>
          <a:xfrm>
            <a:off x="4483437" y="1819341"/>
            <a:ext cx="725293" cy="256032"/>
          </a:xfrm>
          <a:prstGeom prst="roundRect">
            <a:avLst>
              <a:gd fmla="val 14286" name="adj"/>
            </a:avLst>
          </a:prstGeom>
          <a:solidFill>
            <a:srgbClr val="5C7A94">
              <a:alpha val="14901"/>
            </a:srgbClr>
          </a:solidFill>
          <a:ln cap="flat" cmpd="sng" w="12700">
            <a:solidFill>
              <a:srgbClr val="5C7A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
          <p:cNvSpPr/>
          <p:nvPr/>
        </p:nvSpPr>
        <p:spPr>
          <a:xfrm>
            <a:off x="4483437" y="1819341"/>
            <a:ext cx="725293"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C7A94"/>
              </a:buClr>
              <a:buSzPts val="750"/>
              <a:buFont typeface="Calibri"/>
              <a:buNone/>
            </a:pPr>
            <a:r>
              <a:rPr b="1" i="0" lang="en-US" sz="750" u="none" cap="none" strike="noStrike">
                <a:solidFill>
                  <a:srgbClr val="5C7A94"/>
                </a:solidFill>
                <a:latin typeface="Calibri"/>
                <a:ea typeface="Calibri"/>
                <a:cs typeface="Calibri"/>
                <a:sym typeface="Calibri"/>
              </a:rPr>
              <a:t>01</a:t>
            </a:r>
            <a:endParaRPr b="0" i="0" sz="750" u="none" cap="none" strike="noStrike">
              <a:solidFill>
                <a:srgbClr val="5C7A94"/>
              </a:solidFill>
              <a:latin typeface="Calibri"/>
              <a:ea typeface="Calibri"/>
              <a:cs typeface="Calibri"/>
              <a:sym typeface="Calibri"/>
            </a:endParaRPr>
          </a:p>
        </p:txBody>
      </p:sp>
      <p:sp>
        <p:nvSpPr>
          <p:cNvPr id="134" name="Google Shape;134;p2"/>
          <p:cNvSpPr/>
          <p:nvPr/>
        </p:nvSpPr>
        <p:spPr>
          <a:xfrm>
            <a:off x="553212" y="2516569"/>
            <a:ext cx="4835284" cy="107797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
          <p:cNvSpPr/>
          <p:nvPr/>
        </p:nvSpPr>
        <p:spPr>
          <a:xfrm>
            <a:off x="548640" y="2516569"/>
            <a:ext cx="50291" cy="1077969"/>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
          <p:cNvSpPr/>
          <p:nvPr/>
        </p:nvSpPr>
        <p:spPr>
          <a:xfrm>
            <a:off x="644652" y="2608010"/>
            <a:ext cx="56692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02</a:t>
            </a:r>
            <a:endParaRPr b="0" i="0" sz="2600" u="none" cap="none" strike="noStrike">
              <a:solidFill>
                <a:schemeClr val="dk1"/>
              </a:solidFill>
              <a:latin typeface="Calibri"/>
              <a:ea typeface="Calibri"/>
              <a:cs typeface="Calibri"/>
              <a:sym typeface="Calibri"/>
            </a:endParaRPr>
          </a:p>
        </p:txBody>
      </p:sp>
      <p:sp>
        <p:nvSpPr>
          <p:cNvPr id="137" name="Google Shape;137;p2"/>
          <p:cNvSpPr/>
          <p:nvPr/>
        </p:nvSpPr>
        <p:spPr>
          <a:xfrm>
            <a:off x="1193291" y="2580578"/>
            <a:ext cx="3626463"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Lorem ipsum</a:t>
            </a:r>
            <a:endParaRPr b="1" i="0" sz="1250" u="none" cap="none" strike="noStrike">
              <a:solidFill>
                <a:srgbClr val="3F3F3F"/>
              </a:solidFill>
              <a:latin typeface="Calibri"/>
              <a:ea typeface="Calibri"/>
              <a:cs typeface="Calibri"/>
              <a:sym typeface="Calibri"/>
            </a:endParaRPr>
          </a:p>
        </p:txBody>
      </p:sp>
      <p:sp>
        <p:nvSpPr>
          <p:cNvPr id="138" name="Google Shape;138;p2"/>
          <p:cNvSpPr/>
          <p:nvPr/>
        </p:nvSpPr>
        <p:spPr>
          <a:xfrm>
            <a:off x="1193291" y="3019489"/>
            <a:ext cx="3360420" cy="4571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139" name="Google Shape;139;p2"/>
          <p:cNvSpPr/>
          <p:nvPr/>
        </p:nvSpPr>
        <p:spPr>
          <a:xfrm>
            <a:off x="4396576" y="2763458"/>
            <a:ext cx="822251" cy="256032"/>
          </a:xfrm>
          <a:prstGeom prst="roundRect">
            <a:avLst>
              <a:gd fmla="val 14286" name="adj"/>
            </a:avLst>
          </a:prstGeom>
          <a:solidFill>
            <a:srgbClr val="00A896">
              <a:alpha val="14901"/>
            </a:srgbClr>
          </a:solidFill>
          <a:ln cap="flat" cmpd="sng" w="12700">
            <a:solidFill>
              <a:srgbClr val="00A8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 name="Google Shape;140;p2"/>
          <p:cNvSpPr/>
          <p:nvPr/>
        </p:nvSpPr>
        <p:spPr>
          <a:xfrm>
            <a:off x="4396576" y="2763458"/>
            <a:ext cx="822251"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750"/>
              <a:buFont typeface="Calibri"/>
              <a:buNone/>
            </a:pPr>
            <a:r>
              <a:rPr b="1" i="0" lang="en-US" sz="750" u="none" cap="none" strike="noStrike">
                <a:solidFill>
                  <a:srgbClr val="00A896"/>
                </a:solidFill>
                <a:latin typeface="Calibri"/>
                <a:ea typeface="Calibri"/>
                <a:cs typeface="Calibri"/>
                <a:sym typeface="Calibri"/>
              </a:rPr>
              <a:t>02</a:t>
            </a:r>
            <a:endParaRPr b="0" i="0" sz="750" u="none" cap="none" strike="noStrike">
              <a:solidFill>
                <a:schemeClr val="dk1"/>
              </a:solidFill>
              <a:latin typeface="Calibri"/>
              <a:ea typeface="Calibri"/>
              <a:cs typeface="Calibri"/>
              <a:sym typeface="Calibri"/>
            </a:endParaRPr>
          </a:p>
        </p:txBody>
      </p:sp>
      <p:sp>
        <p:nvSpPr>
          <p:cNvPr id="141" name="Google Shape;141;p2"/>
          <p:cNvSpPr/>
          <p:nvPr/>
        </p:nvSpPr>
        <p:spPr>
          <a:xfrm>
            <a:off x="553212" y="3744468"/>
            <a:ext cx="4835284" cy="107797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
          <p:cNvSpPr/>
          <p:nvPr/>
        </p:nvSpPr>
        <p:spPr>
          <a:xfrm>
            <a:off x="553212" y="3744468"/>
            <a:ext cx="45719" cy="1077969"/>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
          <p:cNvSpPr/>
          <p:nvPr/>
        </p:nvSpPr>
        <p:spPr>
          <a:xfrm>
            <a:off x="644652" y="3835909"/>
            <a:ext cx="52656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03</a:t>
            </a:r>
            <a:endParaRPr b="0" i="0" sz="2600" u="none" cap="none" strike="noStrike">
              <a:solidFill>
                <a:schemeClr val="dk1"/>
              </a:solidFill>
              <a:latin typeface="Calibri"/>
              <a:ea typeface="Calibri"/>
              <a:cs typeface="Calibri"/>
              <a:sym typeface="Calibri"/>
            </a:endParaRPr>
          </a:p>
        </p:txBody>
      </p:sp>
      <p:sp>
        <p:nvSpPr>
          <p:cNvPr id="144" name="Google Shape;144;p2"/>
          <p:cNvSpPr/>
          <p:nvPr/>
        </p:nvSpPr>
        <p:spPr>
          <a:xfrm>
            <a:off x="1211580" y="3808477"/>
            <a:ext cx="3626463"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Lorem Ipsum</a:t>
            </a:r>
            <a:endParaRPr b="1" i="0" sz="1250" u="none" cap="none" strike="noStrike">
              <a:solidFill>
                <a:srgbClr val="3F3F3F"/>
              </a:solidFill>
              <a:latin typeface="Calibri"/>
              <a:ea typeface="Calibri"/>
              <a:cs typeface="Calibri"/>
              <a:sym typeface="Calibri"/>
            </a:endParaRPr>
          </a:p>
        </p:txBody>
      </p:sp>
      <p:sp>
        <p:nvSpPr>
          <p:cNvPr id="145" name="Google Shape;145;p2"/>
          <p:cNvSpPr/>
          <p:nvPr/>
        </p:nvSpPr>
        <p:spPr>
          <a:xfrm>
            <a:off x="1211580" y="4210812"/>
            <a:ext cx="3342131" cy="3268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146" name="Google Shape;146;p2"/>
          <p:cNvSpPr/>
          <p:nvPr/>
        </p:nvSpPr>
        <p:spPr>
          <a:xfrm>
            <a:off x="4483437" y="3991357"/>
            <a:ext cx="725293" cy="256032"/>
          </a:xfrm>
          <a:prstGeom prst="roundRect">
            <a:avLst>
              <a:gd fmla="val 14286" name="adj"/>
            </a:avLst>
          </a:prstGeom>
          <a:solidFill>
            <a:schemeClr val="accent6">
              <a:alpha val="14901"/>
            </a:schemeClr>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
          <p:cNvSpPr/>
          <p:nvPr/>
        </p:nvSpPr>
        <p:spPr>
          <a:xfrm>
            <a:off x="4483437" y="3991357"/>
            <a:ext cx="725293"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750"/>
              <a:buFont typeface="Calibri"/>
              <a:buNone/>
            </a:pPr>
            <a:r>
              <a:rPr b="1" i="0" lang="en-US" sz="750" u="none" cap="none" strike="noStrike">
                <a:solidFill>
                  <a:schemeClr val="accent6"/>
                </a:solidFill>
                <a:latin typeface="Calibri"/>
                <a:ea typeface="Calibri"/>
                <a:cs typeface="Calibri"/>
                <a:sym typeface="Calibri"/>
              </a:rPr>
              <a:t>03</a:t>
            </a:r>
            <a:endParaRPr b="0" i="0" sz="750" u="none" cap="none" strike="noStrike">
              <a:solidFill>
                <a:schemeClr val="accent6"/>
              </a:solidFill>
              <a:latin typeface="Calibri"/>
              <a:ea typeface="Calibri"/>
              <a:cs typeface="Calibri"/>
              <a:sym typeface="Calibri"/>
            </a:endParaRPr>
          </a:p>
        </p:txBody>
      </p:sp>
      <p:sp>
        <p:nvSpPr>
          <p:cNvPr id="148" name="Google Shape;148;p2"/>
          <p:cNvSpPr/>
          <p:nvPr/>
        </p:nvSpPr>
        <p:spPr>
          <a:xfrm>
            <a:off x="5714999" y="1431564"/>
            <a:ext cx="3241627" cy="3390874"/>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
          <p:cNvSpPr/>
          <p:nvPr/>
        </p:nvSpPr>
        <p:spPr>
          <a:xfrm>
            <a:off x="5714999" y="1431563"/>
            <a:ext cx="3241627" cy="52167"/>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
          <p:cNvSpPr/>
          <p:nvPr/>
        </p:nvSpPr>
        <p:spPr>
          <a:xfrm>
            <a:off x="5823787" y="1599001"/>
            <a:ext cx="3096263" cy="3390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Architecture diagram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3F3F3F"/>
              </a:buClr>
              <a:buSzPts val="1400"/>
              <a:buFont typeface="Calibri"/>
              <a:buNone/>
            </a:pPr>
            <a:r>
              <a:t/>
            </a:r>
            <a:endParaRPr b="1" i="0" sz="1400" u="none" cap="none" strike="noStrike">
              <a:solidFill>
                <a:srgbClr val="3F3F3F"/>
              </a:solidFill>
              <a:latin typeface="Calibri"/>
              <a:ea typeface="Calibri"/>
              <a:cs typeface="Calibri"/>
              <a:sym typeface="Calibri"/>
            </a:endParaRPr>
          </a:p>
        </p:txBody>
      </p:sp>
      <p:sp>
        <p:nvSpPr>
          <p:cNvPr id="151" name="Google Shape;151;p2"/>
          <p:cNvSpPr/>
          <p:nvPr/>
        </p:nvSpPr>
        <p:spPr>
          <a:xfrm>
            <a:off x="5792259" y="2097481"/>
            <a:ext cx="3096263" cy="1695437"/>
          </a:xfrm>
          <a:prstGeom prst="rect">
            <a:avLst/>
          </a:prstGeom>
          <a:noFill/>
          <a:ln>
            <a:noFill/>
          </a:ln>
        </p:spPr>
        <p:txBody>
          <a:bodyPr anchorCtr="0" anchor="ctr" bIns="45700" lIns="91425" spcFirstLastPara="1" rIns="91425" wrap="square" tIns="45700">
            <a:noAutofit/>
          </a:bodyPr>
          <a:lstStyle/>
          <a:p>
            <a:pPr indent="-273050" lvl="0" marL="342900" marR="0" rtl="0" algn="l">
              <a:lnSpc>
                <a:spcPct val="100000"/>
              </a:lnSpc>
              <a:spcBef>
                <a:spcPts val="300"/>
              </a:spcBef>
              <a:spcAft>
                <a:spcPts val="0"/>
              </a:spcAft>
              <a:buClr>
                <a:srgbClr val="3F3F3F"/>
              </a:buClr>
              <a:buSzPts val="1100"/>
              <a:buFont typeface="Calibri"/>
              <a:buNone/>
            </a:pPr>
            <a:r>
              <a:t/>
            </a:r>
            <a:endParaRPr b="0" i="0" sz="1100" u="none" cap="none" strike="noStrike">
              <a:solidFill>
                <a:srgbClr val="3F3F3F"/>
              </a:solidFill>
              <a:latin typeface="Calibri"/>
              <a:ea typeface="Calibri"/>
              <a:cs typeface="Calibri"/>
              <a:sym typeface="Calibri"/>
            </a:endParaRPr>
          </a:p>
        </p:txBody>
      </p:sp>
      <p:sp>
        <p:nvSpPr>
          <p:cNvPr id="152" name="Google Shape;152;p2"/>
          <p:cNvSpPr/>
          <p:nvPr/>
        </p:nvSpPr>
        <p:spPr>
          <a:xfrm>
            <a:off x="5799416" y="3974386"/>
            <a:ext cx="3067190" cy="717300"/>
          </a:xfrm>
          <a:prstGeom prst="rect">
            <a:avLst/>
          </a:prstGeom>
          <a:solidFill>
            <a:srgbClr val="00A896">
              <a:alpha val="5882"/>
            </a:srgbClr>
          </a:solidFill>
          <a:ln cap="flat" cmpd="sng" w="9525">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
          <p:cNvSpPr/>
          <p:nvPr/>
        </p:nvSpPr>
        <p:spPr>
          <a:xfrm>
            <a:off x="5852391" y="3970442"/>
            <a:ext cx="3127883" cy="717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00A896"/>
                </a:solidFill>
                <a:latin typeface="Calibri"/>
                <a:ea typeface="Calibri"/>
                <a:cs typeface="Calibri"/>
                <a:sym typeface="Calibri"/>
              </a:rPr>
              <a:t>Strengths: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0000"/>
                </a:solidFill>
                <a:latin typeface="Calibri"/>
                <a:ea typeface="Calibri"/>
                <a:cs typeface="Calibri"/>
                <a:sym typeface="Calibri"/>
              </a:rPr>
              <a:t>Weaknesses</a:t>
            </a:r>
            <a:r>
              <a:rPr b="0" i="0" lang="en-US" sz="1000" u="none" cap="none" strike="noStrike">
                <a:solidFill>
                  <a:srgbClr val="FF0000"/>
                </a:solidFill>
                <a:latin typeface="Calibri"/>
                <a:ea typeface="Calibri"/>
                <a:cs typeface="Calibri"/>
                <a:sym typeface="Calibri"/>
              </a:rPr>
              <a:t>:</a:t>
            </a:r>
            <a:endParaRPr b="0" i="0" sz="1000" u="none" cap="none" strike="noStrike">
              <a:solidFill>
                <a:srgbClr val="FF0000"/>
              </a:solidFill>
              <a:latin typeface="Calibri"/>
              <a:ea typeface="Calibri"/>
              <a:cs typeface="Calibri"/>
              <a:sym typeface="Calibri"/>
            </a:endParaRPr>
          </a:p>
        </p:txBody>
      </p:sp>
      <p:sp>
        <p:nvSpPr>
          <p:cNvPr id="154" name="Google Shape;154;p2"/>
          <p:cNvSpPr/>
          <p:nvPr/>
        </p:nvSpPr>
        <p:spPr>
          <a:xfrm>
            <a:off x="1345692" y="2008317"/>
            <a:ext cx="3342130" cy="41478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155" name="Google Shape;155;p2"/>
          <p:cNvSpPr/>
          <p:nvPr/>
        </p:nvSpPr>
        <p:spPr>
          <a:xfrm>
            <a:off x="548650" y="4923900"/>
            <a:ext cx="7683000" cy="21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p:nvPr/>
        </p:nvSpPr>
        <p:spPr>
          <a:xfrm>
            <a:off x="0" y="0"/>
            <a:ext cx="9144000" cy="6400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4"/>
          <p:cNvSpPr/>
          <p:nvPr/>
        </p:nvSpPr>
        <p:spPr>
          <a:xfrm>
            <a:off x="0" y="64008"/>
            <a:ext cx="411480" cy="5079492"/>
          </a:xfrm>
          <a:prstGeom prst="rect">
            <a:avLst/>
          </a:prstGeom>
          <a:solidFill>
            <a:schemeClr val="lt2"/>
          </a:solidFill>
          <a:ln cap="flat" cmpd="sng" w="12700">
            <a:solidFill>
              <a:srgbClr val="0F21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4"/>
          <p:cNvSpPr/>
          <p:nvPr/>
        </p:nvSpPr>
        <p:spPr>
          <a:xfrm>
            <a:off x="402336" y="64008"/>
            <a:ext cx="13716" cy="5079492"/>
          </a:xfrm>
          <a:prstGeom prst="rect">
            <a:avLst/>
          </a:prstGeom>
          <a:solidFill>
            <a:srgbClr val="1C3350"/>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4"/>
          <p:cNvSpPr/>
          <p:nvPr/>
        </p:nvSpPr>
        <p:spPr>
          <a:xfrm rot="-5400000">
            <a:off x="-1875663" y="1207389"/>
            <a:ext cx="4153662" cy="2743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700"/>
              <a:buFont typeface="Calibri"/>
              <a:buNone/>
            </a:pPr>
            <a:r>
              <a:rPr b="1" i="0" lang="en-US" sz="700" u="none" cap="none" strike="noStrike">
                <a:solidFill>
                  <a:srgbClr val="3F3F3F"/>
                </a:solidFill>
                <a:latin typeface="Calibri"/>
                <a:ea typeface="Calibri"/>
                <a:cs typeface="Calibri"/>
                <a:sym typeface="Calibri"/>
              </a:rPr>
              <a:t>REVIEW GROUNDING</a:t>
            </a:r>
            <a:endParaRPr b="0" i="0" sz="700" u="none" cap="none" strike="noStrike">
              <a:solidFill>
                <a:srgbClr val="3F3F3F"/>
              </a:solidFill>
              <a:latin typeface="Calibri"/>
              <a:ea typeface="Calibri"/>
              <a:cs typeface="Calibri"/>
              <a:sym typeface="Calibri"/>
            </a:endParaRPr>
          </a:p>
        </p:txBody>
      </p:sp>
      <p:sp>
        <p:nvSpPr>
          <p:cNvPr id="165" name="Google Shape;165;p4"/>
          <p:cNvSpPr/>
          <p:nvPr/>
        </p:nvSpPr>
        <p:spPr>
          <a:xfrm>
            <a:off x="548640" y="554736"/>
            <a:ext cx="8412480" cy="53035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F3F3F"/>
              </a:buClr>
              <a:buSzPts val="2200"/>
              <a:buFont typeface="Calibri"/>
              <a:buNone/>
            </a:pPr>
            <a:r>
              <a:rPr b="1" i="0" lang="en-US" sz="2200" u="none" cap="none" strike="noStrike">
                <a:solidFill>
                  <a:srgbClr val="3F3F3F"/>
                </a:solidFill>
                <a:latin typeface="Calibri"/>
                <a:ea typeface="Calibri"/>
                <a:cs typeface="Calibri"/>
                <a:sym typeface="Calibri"/>
              </a:rPr>
              <a:t>Key Results – </a:t>
            </a:r>
            <a:r>
              <a:rPr b="1" i="1" lang="en-US" sz="2200" u="none" cap="none" strike="noStrike">
                <a:solidFill>
                  <a:srgbClr val="00A896"/>
                </a:solidFill>
                <a:latin typeface="Calibri"/>
                <a:ea typeface="Calibri"/>
                <a:cs typeface="Calibri"/>
                <a:sym typeface="Calibri"/>
              </a:rPr>
              <a:t>Why , what and how of the workings?</a:t>
            </a:r>
            <a:endParaRPr b="0" i="0" sz="2200" u="none" cap="none" strike="noStrike">
              <a:solidFill>
                <a:schemeClr val="dk1"/>
              </a:solidFill>
              <a:latin typeface="Calibri"/>
              <a:ea typeface="Calibri"/>
              <a:cs typeface="Calibri"/>
              <a:sym typeface="Calibri"/>
            </a:endParaRPr>
          </a:p>
        </p:txBody>
      </p:sp>
      <p:sp>
        <p:nvSpPr>
          <p:cNvPr id="166" name="Google Shape;166;p4"/>
          <p:cNvSpPr/>
          <p:nvPr/>
        </p:nvSpPr>
        <p:spPr>
          <a:xfrm>
            <a:off x="548640" y="1115568"/>
            <a:ext cx="8412480" cy="13716"/>
          </a:xfrm>
          <a:prstGeom prst="rect">
            <a:avLst/>
          </a:prstGeom>
          <a:solidFill>
            <a:srgbClr val="152B45"/>
          </a:solidFill>
          <a:ln cap="flat" cmpd="sng" w="12700">
            <a:solidFill>
              <a:srgbClr val="152B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4"/>
          <p:cNvSpPr/>
          <p:nvPr/>
        </p:nvSpPr>
        <p:spPr>
          <a:xfrm>
            <a:off x="548640" y="1225296"/>
            <a:ext cx="8412480" cy="841248"/>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4"/>
          <p:cNvSpPr/>
          <p:nvPr/>
        </p:nvSpPr>
        <p:spPr>
          <a:xfrm>
            <a:off x="640080" y="1408176"/>
            <a:ext cx="329100" cy="329100"/>
          </a:xfrm>
          <a:prstGeom prst="ellipse">
            <a:avLst/>
          </a:prstGeom>
          <a:solidFill>
            <a:srgbClr val="2ECC71">
              <a:alpha val="20000"/>
            </a:srgbClr>
          </a:solidFill>
          <a:ln cap="flat" cmpd="sng" w="1270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
          <p:cNvSpPr/>
          <p:nvPr/>
        </p:nvSpPr>
        <p:spPr>
          <a:xfrm>
            <a:off x="640130" y="1408238"/>
            <a:ext cx="3291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ECC71"/>
              </a:buClr>
              <a:buSzPts val="1000"/>
              <a:buFont typeface="Calibri"/>
              <a:buNone/>
            </a:pPr>
            <a:r>
              <a:rPr b="1" i="0" lang="en-US" sz="1000" u="none" cap="none" strike="noStrike">
                <a:solidFill>
                  <a:srgbClr val="2ECC71"/>
                </a:solidFill>
                <a:latin typeface="Calibri"/>
                <a:ea typeface="Calibri"/>
                <a:cs typeface="Calibri"/>
                <a:sym typeface="Calibri"/>
              </a:rPr>
              <a:t>S1</a:t>
            </a:r>
            <a:endParaRPr b="0" i="0" sz="1000" u="none" cap="none" strike="noStrike">
              <a:solidFill>
                <a:schemeClr val="dk1"/>
              </a:solidFill>
              <a:latin typeface="Calibri"/>
              <a:ea typeface="Calibri"/>
              <a:cs typeface="Calibri"/>
              <a:sym typeface="Calibri"/>
            </a:endParaRPr>
          </a:p>
        </p:txBody>
      </p:sp>
      <p:sp>
        <p:nvSpPr>
          <p:cNvPr id="170" name="Google Shape;170;p4"/>
          <p:cNvSpPr/>
          <p:nvPr/>
        </p:nvSpPr>
        <p:spPr>
          <a:xfrm>
            <a:off x="1097280" y="1289304"/>
            <a:ext cx="621792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3F3F3F"/>
                </a:solidFill>
                <a:latin typeface="Calibri"/>
                <a:ea typeface="Calibri"/>
                <a:cs typeface="Calibri"/>
                <a:sym typeface="Calibri"/>
              </a:rPr>
              <a:t>What is working?</a:t>
            </a:r>
            <a:endParaRPr b="1" i="0" sz="1250" u="none" cap="none" strike="noStrike">
              <a:solidFill>
                <a:srgbClr val="3F3F3F"/>
              </a:solidFill>
              <a:latin typeface="Calibri"/>
              <a:ea typeface="Calibri"/>
              <a:cs typeface="Calibri"/>
              <a:sym typeface="Calibri"/>
            </a:endParaRPr>
          </a:p>
        </p:txBody>
      </p:sp>
      <p:sp>
        <p:nvSpPr>
          <p:cNvPr id="171" name="Google Shape;171;p4"/>
          <p:cNvSpPr/>
          <p:nvPr/>
        </p:nvSpPr>
        <p:spPr>
          <a:xfrm>
            <a:off x="1097280" y="1569720"/>
            <a:ext cx="621792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What architecture, training strategy, and data strategy have been used? Which hyperparams work (1-2</a:t>
            </a:r>
            <a:endParaRPr b="0" i="0" sz="1100" u="none" cap="none" strike="noStrike">
              <a:solidFill>
                <a:srgbClr val="3F3F3F"/>
              </a:solidFill>
              <a:latin typeface="Calibri"/>
              <a:ea typeface="Calibri"/>
              <a:cs typeface="Calibri"/>
              <a:sym typeface="Calibri"/>
            </a:endParaRPr>
          </a:p>
        </p:txBody>
      </p:sp>
      <p:sp>
        <p:nvSpPr>
          <p:cNvPr id="172" name="Google Shape;172;p4"/>
          <p:cNvSpPr/>
          <p:nvPr/>
        </p:nvSpPr>
        <p:spPr>
          <a:xfrm>
            <a:off x="7498080" y="1335024"/>
            <a:ext cx="1325880" cy="237744"/>
          </a:xfrm>
          <a:prstGeom prst="rect">
            <a:avLst/>
          </a:prstGeom>
          <a:solidFill>
            <a:schemeClr val="lt1"/>
          </a:solidFill>
          <a:ln cap="flat" cmpd="sng" w="1905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4"/>
          <p:cNvSpPr/>
          <p:nvPr/>
        </p:nvSpPr>
        <p:spPr>
          <a:xfrm>
            <a:off x="7516368" y="1335024"/>
            <a:ext cx="1289304" cy="2377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ECC71"/>
              </a:buClr>
              <a:buSzPts val="850"/>
              <a:buFont typeface="Calibri"/>
              <a:buNone/>
            </a:pPr>
            <a:r>
              <a:rPr b="1" i="0" lang="en-US" sz="850" u="none" cap="none" strike="noStrike">
                <a:solidFill>
                  <a:srgbClr val="2ECC71"/>
                </a:solidFill>
                <a:latin typeface="Calibri"/>
                <a:ea typeface="Calibri"/>
                <a:cs typeface="Calibri"/>
                <a:sym typeface="Calibri"/>
              </a:rPr>
              <a:t>● Implemented</a:t>
            </a:r>
            <a:endParaRPr b="0" i="0" sz="850" u="none" cap="none" strike="noStrike">
              <a:solidFill>
                <a:schemeClr val="dk1"/>
              </a:solidFill>
              <a:latin typeface="Calibri"/>
              <a:ea typeface="Calibri"/>
              <a:cs typeface="Calibri"/>
              <a:sym typeface="Calibri"/>
            </a:endParaRPr>
          </a:p>
        </p:txBody>
      </p:sp>
      <p:sp>
        <p:nvSpPr>
          <p:cNvPr id="174" name="Google Shape;174;p4"/>
          <p:cNvSpPr/>
          <p:nvPr/>
        </p:nvSpPr>
        <p:spPr>
          <a:xfrm>
            <a:off x="7213600" y="1772920"/>
            <a:ext cx="1849120" cy="10972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All core setup criteria done</a:t>
            </a:r>
            <a:endParaRPr b="0" i="0" sz="1200" u="none" cap="none" strike="noStrike">
              <a:solidFill>
                <a:srgbClr val="3F3F3F"/>
              </a:solidFill>
              <a:latin typeface="Calibri"/>
              <a:ea typeface="Calibri"/>
              <a:cs typeface="Calibri"/>
              <a:sym typeface="Calibri"/>
            </a:endParaRPr>
          </a:p>
        </p:txBody>
      </p:sp>
      <p:sp>
        <p:nvSpPr>
          <p:cNvPr id="175" name="Google Shape;175;p4"/>
          <p:cNvSpPr/>
          <p:nvPr/>
        </p:nvSpPr>
        <p:spPr>
          <a:xfrm>
            <a:off x="548640" y="2185416"/>
            <a:ext cx="8412480" cy="841248"/>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4"/>
          <p:cNvSpPr/>
          <p:nvPr/>
        </p:nvSpPr>
        <p:spPr>
          <a:xfrm>
            <a:off x="640080" y="2368296"/>
            <a:ext cx="329184" cy="329184"/>
          </a:xfrm>
          <a:prstGeom prst="ellipse">
            <a:avLst/>
          </a:prstGeom>
          <a:solidFill>
            <a:srgbClr val="F39C12">
              <a:alpha val="20000"/>
            </a:srgbClr>
          </a:solidFill>
          <a:ln cap="flat" cmpd="sng" w="12700">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4"/>
          <p:cNvSpPr/>
          <p:nvPr/>
        </p:nvSpPr>
        <p:spPr>
          <a:xfrm>
            <a:off x="640080" y="2368296"/>
            <a:ext cx="329184" cy="329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39C12"/>
              </a:buClr>
              <a:buSzPts val="1000"/>
              <a:buFont typeface="Calibri"/>
              <a:buNone/>
            </a:pPr>
            <a:r>
              <a:rPr b="1" i="0" lang="en-US" sz="1000" u="none" cap="none" strike="noStrike">
                <a:solidFill>
                  <a:srgbClr val="F39C12"/>
                </a:solidFill>
                <a:latin typeface="Calibri"/>
                <a:ea typeface="Calibri"/>
                <a:cs typeface="Calibri"/>
                <a:sym typeface="Calibri"/>
              </a:rPr>
              <a:t>S2</a:t>
            </a:r>
            <a:endParaRPr b="0" i="0" sz="1000" u="none" cap="none" strike="noStrike">
              <a:solidFill>
                <a:schemeClr val="dk1"/>
              </a:solidFill>
              <a:latin typeface="Calibri"/>
              <a:ea typeface="Calibri"/>
              <a:cs typeface="Calibri"/>
              <a:sym typeface="Calibri"/>
            </a:endParaRPr>
          </a:p>
        </p:txBody>
      </p:sp>
      <p:sp>
        <p:nvSpPr>
          <p:cNvPr id="178" name="Google Shape;178;p4"/>
          <p:cNvSpPr/>
          <p:nvPr/>
        </p:nvSpPr>
        <p:spPr>
          <a:xfrm>
            <a:off x="1097280" y="2249424"/>
            <a:ext cx="621792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How is it working? (Quantitative evals)</a:t>
            </a:r>
            <a:endParaRPr b="1" i="0" sz="1250" u="none" cap="none" strike="noStrike">
              <a:solidFill>
                <a:srgbClr val="3F3F3F"/>
              </a:solidFill>
              <a:latin typeface="Calibri"/>
              <a:ea typeface="Calibri"/>
              <a:cs typeface="Calibri"/>
              <a:sym typeface="Calibri"/>
            </a:endParaRPr>
          </a:p>
        </p:txBody>
      </p:sp>
      <p:sp>
        <p:nvSpPr>
          <p:cNvPr id="179" name="Google Shape;179;p4"/>
          <p:cNvSpPr/>
          <p:nvPr/>
        </p:nvSpPr>
        <p:spPr>
          <a:xfrm>
            <a:off x="1097280" y="2531364"/>
            <a:ext cx="621792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1 - 2 slide on quantitative and qualitative evals (plots, tables, etc)</a:t>
            </a:r>
            <a:endParaRPr b="0" i="0" sz="1100" u="none" cap="none" strike="noStrike">
              <a:solidFill>
                <a:srgbClr val="3F3F3F"/>
              </a:solidFill>
              <a:latin typeface="Calibri"/>
              <a:ea typeface="Calibri"/>
              <a:cs typeface="Calibri"/>
              <a:sym typeface="Calibri"/>
            </a:endParaRPr>
          </a:p>
        </p:txBody>
      </p:sp>
      <p:sp>
        <p:nvSpPr>
          <p:cNvPr id="180" name="Google Shape;180;p4"/>
          <p:cNvSpPr/>
          <p:nvPr/>
        </p:nvSpPr>
        <p:spPr>
          <a:xfrm>
            <a:off x="548640" y="3145536"/>
            <a:ext cx="8412480" cy="841248"/>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4"/>
          <p:cNvSpPr/>
          <p:nvPr/>
        </p:nvSpPr>
        <p:spPr>
          <a:xfrm>
            <a:off x="640080" y="3328416"/>
            <a:ext cx="329184" cy="329184"/>
          </a:xfrm>
          <a:prstGeom prst="ellipse">
            <a:avLst/>
          </a:prstGeom>
          <a:solidFill>
            <a:srgbClr val="5C7A94">
              <a:alpha val="20000"/>
            </a:srgbClr>
          </a:solidFill>
          <a:ln cap="flat" cmpd="sng" w="12700">
            <a:solidFill>
              <a:srgbClr val="8BA3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4"/>
          <p:cNvSpPr/>
          <p:nvPr/>
        </p:nvSpPr>
        <p:spPr>
          <a:xfrm>
            <a:off x="640075" y="3328424"/>
            <a:ext cx="3291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A3B8"/>
              </a:buClr>
              <a:buSzPts val="1000"/>
              <a:buFont typeface="Calibri"/>
              <a:buNone/>
            </a:pPr>
            <a:r>
              <a:rPr b="1" i="0" lang="en-US" sz="1000" u="none" cap="none" strike="noStrike">
                <a:solidFill>
                  <a:srgbClr val="8BA3B8"/>
                </a:solidFill>
                <a:latin typeface="Calibri"/>
                <a:ea typeface="Calibri"/>
                <a:cs typeface="Calibri"/>
                <a:sym typeface="Calibri"/>
              </a:rPr>
              <a:t>S3</a:t>
            </a:r>
            <a:endParaRPr b="0" i="0" sz="1000" u="none" cap="none" strike="noStrike">
              <a:solidFill>
                <a:schemeClr val="dk1"/>
              </a:solidFill>
              <a:latin typeface="Calibri"/>
              <a:ea typeface="Calibri"/>
              <a:cs typeface="Calibri"/>
              <a:sym typeface="Calibri"/>
            </a:endParaRPr>
          </a:p>
        </p:txBody>
      </p:sp>
      <p:sp>
        <p:nvSpPr>
          <p:cNvPr id="183" name="Google Shape;183;p4"/>
          <p:cNvSpPr/>
          <p:nvPr/>
        </p:nvSpPr>
        <p:spPr>
          <a:xfrm>
            <a:off x="1097280" y="3209544"/>
            <a:ext cx="621792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Why is it working? (Reasoning and analysis)</a:t>
            </a:r>
            <a:endParaRPr b="1" i="0" sz="1250" u="none" cap="none" strike="noStrike">
              <a:solidFill>
                <a:srgbClr val="3F3F3F"/>
              </a:solidFill>
              <a:latin typeface="Calibri"/>
              <a:ea typeface="Calibri"/>
              <a:cs typeface="Calibri"/>
              <a:sym typeface="Calibri"/>
            </a:endParaRPr>
          </a:p>
        </p:txBody>
      </p:sp>
      <p:sp>
        <p:nvSpPr>
          <p:cNvPr id="184" name="Google Shape;184;p4"/>
          <p:cNvSpPr/>
          <p:nvPr/>
        </p:nvSpPr>
        <p:spPr>
          <a:xfrm>
            <a:off x="1097280" y="3489960"/>
            <a:ext cx="621792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One slide reasoning your implementations</a:t>
            </a:r>
            <a:endParaRPr b="0" i="0" sz="1100" u="none" cap="none" strike="noStrike">
              <a:solidFill>
                <a:srgbClr val="3F3F3F"/>
              </a:solidFill>
              <a:latin typeface="Calibri"/>
              <a:ea typeface="Calibri"/>
              <a:cs typeface="Calibri"/>
              <a:sym typeface="Calibri"/>
            </a:endParaRPr>
          </a:p>
        </p:txBody>
      </p:sp>
      <p:sp>
        <p:nvSpPr>
          <p:cNvPr id="185" name="Google Shape;185;p4"/>
          <p:cNvSpPr/>
          <p:nvPr/>
        </p:nvSpPr>
        <p:spPr>
          <a:xfrm>
            <a:off x="548590" y="4105636"/>
            <a:ext cx="8412600" cy="84120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9"/>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8BA3B8"/>
              </a:buClr>
              <a:buSzPts val="1000"/>
              <a:buFont typeface="Calibri"/>
              <a:buNone/>
            </a:pPr>
            <a:r>
              <a:t/>
            </a:r>
            <a:endParaRPr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a:p>
        </p:txBody>
      </p:sp>
      <p:sp>
        <p:nvSpPr>
          <p:cNvPr id="186" name="Google Shape;186;p4"/>
          <p:cNvSpPr/>
          <p:nvPr/>
        </p:nvSpPr>
        <p:spPr>
          <a:xfrm>
            <a:off x="640130" y="4361666"/>
            <a:ext cx="3291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A3B8"/>
              </a:buClr>
              <a:buSzPts val="1000"/>
              <a:buFont typeface="Calibri"/>
              <a:buNone/>
            </a:pPr>
            <a:r>
              <a:rPr b="1" i="0" lang="en-US" sz="1000" u="none" cap="none" strike="noStrike">
                <a:solidFill>
                  <a:srgbClr val="8BA3B8"/>
                </a:solidFill>
                <a:latin typeface="Calibri"/>
                <a:ea typeface="Calibri"/>
                <a:cs typeface="Calibri"/>
                <a:sym typeface="Calibri"/>
              </a:rPr>
              <a:t>S</a:t>
            </a:r>
            <a:r>
              <a:rPr b="1" lang="en-US" sz="1000">
                <a:solidFill>
                  <a:srgbClr val="8BA3B8"/>
                </a:solidFill>
                <a:latin typeface="Calibri"/>
                <a:ea typeface="Calibri"/>
                <a:cs typeface="Calibri"/>
                <a:sym typeface="Calibri"/>
              </a:rPr>
              <a:t>4</a:t>
            </a:r>
            <a:endParaRPr b="1" sz="1000">
              <a:solidFill>
                <a:srgbClr val="8BA3B8"/>
              </a:solidFill>
              <a:latin typeface="Calibri"/>
              <a:ea typeface="Calibri"/>
              <a:cs typeface="Calibri"/>
              <a:sym typeface="Calibri"/>
            </a:endParaRPr>
          </a:p>
        </p:txBody>
      </p:sp>
      <p:sp>
        <p:nvSpPr>
          <p:cNvPr id="187" name="Google Shape;187;p4"/>
          <p:cNvSpPr/>
          <p:nvPr/>
        </p:nvSpPr>
        <p:spPr>
          <a:xfrm>
            <a:off x="1144437" y="4416425"/>
            <a:ext cx="6123600" cy="21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sz="1200">
                <a:latin typeface="Calibri"/>
                <a:ea typeface="Calibri"/>
                <a:cs typeface="Calibri"/>
                <a:sym typeface="Calibri"/>
              </a:rPr>
              <a:t>Mention model parameters and particulars , training time(mention accelerator as well), inference time per sample. </a:t>
            </a:r>
            <a:r>
              <a:rPr b="1" lang="en-US" sz="1200">
                <a:solidFill>
                  <a:schemeClr val="dk1"/>
                </a:solidFill>
                <a:latin typeface="Calibri"/>
                <a:ea typeface="Calibri"/>
                <a:cs typeface="Calibri"/>
                <a:sym typeface="Calibri"/>
              </a:rPr>
              <a:t>Elucidate about the approach paradigm shift you’ve taken from phase 1 to phase 2</a:t>
            </a:r>
            <a:endParaRPr b="1" sz="1050">
              <a:solidFill>
                <a:srgbClr val="3F3F3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1" sz="1200">
              <a:latin typeface="Calibri"/>
              <a:ea typeface="Calibri"/>
              <a:cs typeface="Calibri"/>
              <a:sym typeface="Calibri"/>
            </a:endParaRPr>
          </a:p>
        </p:txBody>
      </p:sp>
      <p:sp>
        <p:nvSpPr>
          <p:cNvPr id="188" name="Google Shape;188;p4"/>
          <p:cNvSpPr/>
          <p:nvPr/>
        </p:nvSpPr>
        <p:spPr>
          <a:xfrm>
            <a:off x="640130" y="4361676"/>
            <a:ext cx="329100" cy="329100"/>
          </a:xfrm>
          <a:prstGeom prst="ellipse">
            <a:avLst/>
          </a:prstGeom>
          <a:solidFill>
            <a:srgbClr val="2ECC71">
              <a:alpha val="20000"/>
            </a:srgbClr>
          </a:solidFill>
          <a:ln cap="flat" cmpd="sng" w="1270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6"/>
          <p:cNvSpPr/>
          <p:nvPr/>
        </p:nvSpPr>
        <p:spPr>
          <a:xfrm>
            <a:off x="0" y="0"/>
            <a:ext cx="9144000" cy="6400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6"/>
          <p:cNvSpPr/>
          <p:nvPr/>
        </p:nvSpPr>
        <p:spPr>
          <a:xfrm>
            <a:off x="0" y="64008"/>
            <a:ext cx="411480" cy="5079492"/>
          </a:xfrm>
          <a:prstGeom prst="rect">
            <a:avLst/>
          </a:prstGeom>
          <a:solidFill>
            <a:schemeClr val="lt2"/>
          </a:solidFill>
          <a:ln cap="flat" cmpd="sng" w="12700">
            <a:solidFill>
              <a:srgbClr val="0F21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6"/>
          <p:cNvSpPr/>
          <p:nvPr/>
        </p:nvSpPr>
        <p:spPr>
          <a:xfrm>
            <a:off x="402336" y="64008"/>
            <a:ext cx="13716" cy="5079492"/>
          </a:xfrm>
          <a:prstGeom prst="rect">
            <a:avLst/>
          </a:prstGeom>
          <a:solidFill>
            <a:srgbClr val="1C3350"/>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6"/>
          <p:cNvSpPr/>
          <p:nvPr/>
        </p:nvSpPr>
        <p:spPr>
          <a:xfrm rot="-5400000">
            <a:off x="-1793367" y="1228725"/>
            <a:ext cx="3989070" cy="2743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700"/>
              <a:buFont typeface="Calibri"/>
              <a:buNone/>
            </a:pPr>
            <a:r>
              <a:rPr b="1" i="0" lang="en-US" sz="700" u="none" cap="none" strike="noStrike">
                <a:solidFill>
                  <a:srgbClr val="3F3F3F"/>
                </a:solidFill>
                <a:latin typeface="Calibri"/>
                <a:ea typeface="Calibri"/>
                <a:cs typeface="Calibri"/>
                <a:sym typeface="Calibri"/>
              </a:rPr>
              <a:t>MATCHMAKING</a:t>
            </a:r>
            <a:endParaRPr b="0" i="0" sz="700" u="none" cap="none" strike="noStrike">
              <a:solidFill>
                <a:srgbClr val="3F3F3F"/>
              </a:solidFill>
              <a:latin typeface="Calibri"/>
              <a:ea typeface="Calibri"/>
              <a:cs typeface="Calibri"/>
              <a:sym typeface="Calibri"/>
            </a:endParaRPr>
          </a:p>
        </p:txBody>
      </p:sp>
      <p:sp>
        <p:nvSpPr>
          <p:cNvPr id="198" name="Google Shape;198;p6"/>
          <p:cNvSpPr/>
          <p:nvPr/>
        </p:nvSpPr>
        <p:spPr>
          <a:xfrm>
            <a:off x="548640" y="531876"/>
            <a:ext cx="8412480" cy="53035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2200" u="none" cap="none" strike="noStrike">
                <a:solidFill>
                  <a:srgbClr val="3F3F3F"/>
                </a:solidFill>
                <a:latin typeface="Calibri"/>
                <a:ea typeface="Calibri"/>
                <a:cs typeface="Calibri"/>
                <a:sym typeface="Calibri"/>
              </a:rPr>
              <a:t>Key Results </a:t>
            </a:r>
            <a:r>
              <a:rPr b="1" i="1" lang="en-US" sz="2200" u="none" cap="none" strike="noStrike">
                <a:solidFill>
                  <a:srgbClr val="00A896"/>
                </a:solidFill>
                <a:latin typeface="Calibri"/>
                <a:ea typeface="Calibri"/>
                <a:cs typeface="Calibri"/>
                <a:sym typeface="Calibri"/>
              </a:rPr>
              <a:t>- Why , what and how of the workings?</a:t>
            </a:r>
            <a:endParaRPr b="0" i="0" sz="2200" u="none" cap="none" strike="noStrike">
              <a:solidFill>
                <a:schemeClr val="dk1"/>
              </a:solidFill>
              <a:latin typeface="Calibri"/>
              <a:ea typeface="Calibri"/>
              <a:cs typeface="Calibri"/>
              <a:sym typeface="Calibri"/>
            </a:endParaRPr>
          </a:p>
        </p:txBody>
      </p:sp>
      <p:sp>
        <p:nvSpPr>
          <p:cNvPr id="199" name="Google Shape;199;p6"/>
          <p:cNvSpPr/>
          <p:nvPr/>
        </p:nvSpPr>
        <p:spPr>
          <a:xfrm>
            <a:off x="548640" y="1115568"/>
            <a:ext cx="8412480" cy="13716"/>
          </a:xfrm>
          <a:prstGeom prst="rect">
            <a:avLst/>
          </a:prstGeom>
          <a:solidFill>
            <a:srgbClr val="152B45"/>
          </a:solidFill>
          <a:ln cap="flat" cmpd="sng" w="12700">
            <a:solidFill>
              <a:srgbClr val="152B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6"/>
          <p:cNvSpPr/>
          <p:nvPr/>
        </p:nvSpPr>
        <p:spPr>
          <a:xfrm>
            <a:off x="553212" y="1417004"/>
            <a:ext cx="4835284" cy="960121"/>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6"/>
          <p:cNvSpPr/>
          <p:nvPr/>
        </p:nvSpPr>
        <p:spPr>
          <a:xfrm>
            <a:off x="553212" y="1417005"/>
            <a:ext cx="45719" cy="96012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6"/>
          <p:cNvSpPr/>
          <p:nvPr/>
        </p:nvSpPr>
        <p:spPr>
          <a:xfrm>
            <a:off x="644652" y="1508445"/>
            <a:ext cx="56692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01</a:t>
            </a:r>
            <a:endParaRPr b="0" i="0" sz="2600" u="none" cap="none" strike="noStrike">
              <a:solidFill>
                <a:schemeClr val="dk1"/>
              </a:solidFill>
              <a:latin typeface="Calibri"/>
              <a:ea typeface="Calibri"/>
              <a:cs typeface="Calibri"/>
              <a:sym typeface="Calibri"/>
            </a:endParaRPr>
          </a:p>
        </p:txBody>
      </p:sp>
      <p:sp>
        <p:nvSpPr>
          <p:cNvPr id="203" name="Google Shape;203;p6"/>
          <p:cNvSpPr/>
          <p:nvPr/>
        </p:nvSpPr>
        <p:spPr>
          <a:xfrm>
            <a:off x="1193291" y="1481013"/>
            <a:ext cx="3626463"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Lorem Ipsum</a:t>
            </a:r>
            <a:endParaRPr b="1" i="0" sz="1250" u="none" cap="none" strike="noStrike">
              <a:solidFill>
                <a:srgbClr val="3F3F3F"/>
              </a:solidFill>
              <a:latin typeface="Calibri"/>
              <a:ea typeface="Calibri"/>
              <a:cs typeface="Calibri"/>
              <a:sym typeface="Calibri"/>
            </a:endParaRPr>
          </a:p>
        </p:txBody>
      </p:sp>
      <p:sp>
        <p:nvSpPr>
          <p:cNvPr id="204" name="Google Shape;204;p6"/>
          <p:cNvSpPr/>
          <p:nvPr/>
        </p:nvSpPr>
        <p:spPr>
          <a:xfrm>
            <a:off x="1193292" y="1855917"/>
            <a:ext cx="3342130" cy="41478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205" name="Google Shape;205;p6"/>
          <p:cNvSpPr/>
          <p:nvPr/>
        </p:nvSpPr>
        <p:spPr>
          <a:xfrm>
            <a:off x="4483437" y="1819341"/>
            <a:ext cx="725293" cy="256032"/>
          </a:xfrm>
          <a:prstGeom prst="roundRect">
            <a:avLst>
              <a:gd fmla="val 14286" name="adj"/>
            </a:avLst>
          </a:prstGeom>
          <a:solidFill>
            <a:srgbClr val="5C7A94">
              <a:alpha val="14901"/>
            </a:srgbClr>
          </a:solidFill>
          <a:ln cap="flat" cmpd="sng" w="12700">
            <a:solidFill>
              <a:srgbClr val="5C7A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6"/>
          <p:cNvSpPr/>
          <p:nvPr/>
        </p:nvSpPr>
        <p:spPr>
          <a:xfrm>
            <a:off x="4483437" y="1819341"/>
            <a:ext cx="725293"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C7A94"/>
              </a:buClr>
              <a:buSzPts val="750"/>
              <a:buFont typeface="Calibri"/>
              <a:buNone/>
            </a:pPr>
            <a:r>
              <a:rPr b="1" i="0" lang="en-US" sz="750" u="none" cap="none" strike="noStrike">
                <a:solidFill>
                  <a:srgbClr val="5C7A94"/>
                </a:solidFill>
                <a:latin typeface="Calibri"/>
                <a:ea typeface="Calibri"/>
                <a:cs typeface="Calibri"/>
                <a:sym typeface="Calibri"/>
              </a:rPr>
              <a:t>01</a:t>
            </a:r>
            <a:endParaRPr b="0" i="0" sz="750" u="none" cap="none" strike="noStrike">
              <a:solidFill>
                <a:srgbClr val="5C7A94"/>
              </a:solidFill>
              <a:latin typeface="Calibri"/>
              <a:ea typeface="Calibri"/>
              <a:cs typeface="Calibri"/>
              <a:sym typeface="Calibri"/>
            </a:endParaRPr>
          </a:p>
        </p:txBody>
      </p:sp>
      <p:sp>
        <p:nvSpPr>
          <p:cNvPr id="207" name="Google Shape;207;p6"/>
          <p:cNvSpPr/>
          <p:nvPr/>
        </p:nvSpPr>
        <p:spPr>
          <a:xfrm>
            <a:off x="553212" y="2516569"/>
            <a:ext cx="4835284" cy="107797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6"/>
          <p:cNvSpPr/>
          <p:nvPr/>
        </p:nvSpPr>
        <p:spPr>
          <a:xfrm>
            <a:off x="548640" y="2516569"/>
            <a:ext cx="50291" cy="1077969"/>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6"/>
          <p:cNvSpPr/>
          <p:nvPr/>
        </p:nvSpPr>
        <p:spPr>
          <a:xfrm>
            <a:off x="644652" y="2608010"/>
            <a:ext cx="56692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02</a:t>
            </a:r>
            <a:endParaRPr b="0" i="0" sz="2600" u="none" cap="none" strike="noStrike">
              <a:solidFill>
                <a:schemeClr val="dk1"/>
              </a:solidFill>
              <a:latin typeface="Calibri"/>
              <a:ea typeface="Calibri"/>
              <a:cs typeface="Calibri"/>
              <a:sym typeface="Calibri"/>
            </a:endParaRPr>
          </a:p>
        </p:txBody>
      </p:sp>
      <p:sp>
        <p:nvSpPr>
          <p:cNvPr id="210" name="Google Shape;210;p6"/>
          <p:cNvSpPr/>
          <p:nvPr/>
        </p:nvSpPr>
        <p:spPr>
          <a:xfrm>
            <a:off x="1193291" y="2580578"/>
            <a:ext cx="3626463"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Lorem ipsum</a:t>
            </a:r>
            <a:endParaRPr b="1" i="0" sz="1250" u="none" cap="none" strike="noStrike">
              <a:solidFill>
                <a:srgbClr val="3F3F3F"/>
              </a:solidFill>
              <a:latin typeface="Calibri"/>
              <a:ea typeface="Calibri"/>
              <a:cs typeface="Calibri"/>
              <a:sym typeface="Calibri"/>
            </a:endParaRPr>
          </a:p>
        </p:txBody>
      </p:sp>
      <p:sp>
        <p:nvSpPr>
          <p:cNvPr id="211" name="Google Shape;211;p6"/>
          <p:cNvSpPr/>
          <p:nvPr/>
        </p:nvSpPr>
        <p:spPr>
          <a:xfrm>
            <a:off x="1193291" y="3019489"/>
            <a:ext cx="3360420" cy="4571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212" name="Google Shape;212;p6"/>
          <p:cNvSpPr/>
          <p:nvPr/>
        </p:nvSpPr>
        <p:spPr>
          <a:xfrm>
            <a:off x="4396576" y="2763458"/>
            <a:ext cx="822251" cy="256032"/>
          </a:xfrm>
          <a:prstGeom prst="roundRect">
            <a:avLst>
              <a:gd fmla="val 14286" name="adj"/>
            </a:avLst>
          </a:prstGeom>
          <a:solidFill>
            <a:srgbClr val="00A896">
              <a:alpha val="14901"/>
            </a:srgbClr>
          </a:solidFill>
          <a:ln cap="flat" cmpd="sng" w="12700">
            <a:solidFill>
              <a:srgbClr val="00A8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6"/>
          <p:cNvSpPr/>
          <p:nvPr/>
        </p:nvSpPr>
        <p:spPr>
          <a:xfrm>
            <a:off x="4396576" y="2763458"/>
            <a:ext cx="822251"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750"/>
              <a:buFont typeface="Calibri"/>
              <a:buNone/>
            </a:pPr>
            <a:r>
              <a:rPr b="1" i="0" lang="en-US" sz="750" u="none" cap="none" strike="noStrike">
                <a:solidFill>
                  <a:srgbClr val="00A896"/>
                </a:solidFill>
                <a:latin typeface="Calibri"/>
                <a:ea typeface="Calibri"/>
                <a:cs typeface="Calibri"/>
                <a:sym typeface="Calibri"/>
              </a:rPr>
              <a:t>02</a:t>
            </a:r>
            <a:endParaRPr b="0" i="0" sz="750" u="none" cap="none" strike="noStrike">
              <a:solidFill>
                <a:schemeClr val="dk1"/>
              </a:solidFill>
              <a:latin typeface="Calibri"/>
              <a:ea typeface="Calibri"/>
              <a:cs typeface="Calibri"/>
              <a:sym typeface="Calibri"/>
            </a:endParaRPr>
          </a:p>
        </p:txBody>
      </p:sp>
      <p:sp>
        <p:nvSpPr>
          <p:cNvPr id="214" name="Google Shape;214;p6"/>
          <p:cNvSpPr/>
          <p:nvPr/>
        </p:nvSpPr>
        <p:spPr>
          <a:xfrm>
            <a:off x="553212" y="3744468"/>
            <a:ext cx="4835284" cy="107797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6"/>
          <p:cNvSpPr/>
          <p:nvPr/>
        </p:nvSpPr>
        <p:spPr>
          <a:xfrm>
            <a:off x="553212" y="3744468"/>
            <a:ext cx="45719" cy="1077969"/>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6"/>
          <p:cNvSpPr/>
          <p:nvPr/>
        </p:nvSpPr>
        <p:spPr>
          <a:xfrm>
            <a:off x="644652" y="3835909"/>
            <a:ext cx="52656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03</a:t>
            </a:r>
            <a:endParaRPr b="0" i="0" sz="2600" u="none" cap="none" strike="noStrike">
              <a:solidFill>
                <a:schemeClr val="dk1"/>
              </a:solidFill>
              <a:latin typeface="Calibri"/>
              <a:ea typeface="Calibri"/>
              <a:cs typeface="Calibri"/>
              <a:sym typeface="Calibri"/>
            </a:endParaRPr>
          </a:p>
        </p:txBody>
      </p:sp>
      <p:sp>
        <p:nvSpPr>
          <p:cNvPr id="217" name="Google Shape;217;p6"/>
          <p:cNvSpPr/>
          <p:nvPr/>
        </p:nvSpPr>
        <p:spPr>
          <a:xfrm>
            <a:off x="1211580" y="3808477"/>
            <a:ext cx="3626463"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Lorem Ipsum</a:t>
            </a:r>
            <a:endParaRPr b="1" i="0" sz="1250" u="none" cap="none" strike="noStrike">
              <a:solidFill>
                <a:srgbClr val="3F3F3F"/>
              </a:solidFill>
              <a:latin typeface="Calibri"/>
              <a:ea typeface="Calibri"/>
              <a:cs typeface="Calibri"/>
              <a:sym typeface="Calibri"/>
            </a:endParaRPr>
          </a:p>
        </p:txBody>
      </p:sp>
      <p:sp>
        <p:nvSpPr>
          <p:cNvPr id="218" name="Google Shape;218;p6"/>
          <p:cNvSpPr/>
          <p:nvPr/>
        </p:nvSpPr>
        <p:spPr>
          <a:xfrm>
            <a:off x="1211580" y="4210812"/>
            <a:ext cx="3342131" cy="3268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219" name="Google Shape;219;p6"/>
          <p:cNvSpPr/>
          <p:nvPr/>
        </p:nvSpPr>
        <p:spPr>
          <a:xfrm>
            <a:off x="4483437" y="3991357"/>
            <a:ext cx="725293" cy="256032"/>
          </a:xfrm>
          <a:prstGeom prst="roundRect">
            <a:avLst>
              <a:gd fmla="val 14286" name="adj"/>
            </a:avLst>
          </a:prstGeom>
          <a:solidFill>
            <a:schemeClr val="accent6">
              <a:alpha val="14901"/>
            </a:schemeClr>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6"/>
          <p:cNvSpPr/>
          <p:nvPr/>
        </p:nvSpPr>
        <p:spPr>
          <a:xfrm>
            <a:off x="4483437" y="3991357"/>
            <a:ext cx="725293"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750"/>
              <a:buFont typeface="Calibri"/>
              <a:buNone/>
            </a:pPr>
            <a:r>
              <a:rPr b="1" i="0" lang="en-US" sz="750" u="none" cap="none" strike="noStrike">
                <a:solidFill>
                  <a:schemeClr val="accent6"/>
                </a:solidFill>
                <a:latin typeface="Calibri"/>
                <a:ea typeface="Calibri"/>
                <a:cs typeface="Calibri"/>
                <a:sym typeface="Calibri"/>
              </a:rPr>
              <a:t>03</a:t>
            </a:r>
            <a:endParaRPr b="0" i="0" sz="750" u="none" cap="none" strike="noStrike">
              <a:solidFill>
                <a:schemeClr val="accent6"/>
              </a:solidFill>
              <a:latin typeface="Calibri"/>
              <a:ea typeface="Calibri"/>
              <a:cs typeface="Calibri"/>
              <a:sym typeface="Calibri"/>
            </a:endParaRPr>
          </a:p>
        </p:txBody>
      </p:sp>
      <p:sp>
        <p:nvSpPr>
          <p:cNvPr id="221" name="Google Shape;221;p6"/>
          <p:cNvSpPr/>
          <p:nvPr/>
        </p:nvSpPr>
        <p:spPr>
          <a:xfrm>
            <a:off x="5714999" y="1431564"/>
            <a:ext cx="3241627" cy="3390874"/>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6"/>
          <p:cNvSpPr/>
          <p:nvPr/>
        </p:nvSpPr>
        <p:spPr>
          <a:xfrm>
            <a:off x="5714999" y="1431563"/>
            <a:ext cx="3241627" cy="52167"/>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6"/>
          <p:cNvSpPr/>
          <p:nvPr/>
        </p:nvSpPr>
        <p:spPr>
          <a:xfrm>
            <a:off x="5823787" y="1599001"/>
            <a:ext cx="3096263" cy="3390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Plots/Tables</a:t>
            </a:r>
            <a:endParaRPr b="1">
              <a:latin typeface="Calibri"/>
              <a:ea typeface="Calibri"/>
              <a:cs typeface="Calibri"/>
              <a:sym typeface="Calibri"/>
            </a:endParaRPr>
          </a:p>
          <a:p>
            <a:pPr indent="0" lvl="0" marL="0" marR="0" rtl="0" algn="l">
              <a:lnSpc>
                <a:spcPct val="100000"/>
              </a:lnSpc>
              <a:spcBef>
                <a:spcPts val="0"/>
              </a:spcBef>
              <a:spcAft>
                <a:spcPts val="0"/>
              </a:spcAft>
              <a:buClr>
                <a:srgbClr val="3F3F3F"/>
              </a:buClr>
              <a:buSzPts val="1400"/>
              <a:buFont typeface="Calibri"/>
              <a:buNone/>
            </a:pPr>
            <a:r>
              <a:t/>
            </a:r>
            <a:endParaRPr b="1" i="0" sz="1400" u="none" cap="none" strike="noStrike">
              <a:solidFill>
                <a:srgbClr val="3F3F3F"/>
              </a:solidFill>
              <a:latin typeface="Calibri"/>
              <a:ea typeface="Calibri"/>
              <a:cs typeface="Calibri"/>
              <a:sym typeface="Calibri"/>
            </a:endParaRPr>
          </a:p>
        </p:txBody>
      </p:sp>
      <p:sp>
        <p:nvSpPr>
          <p:cNvPr id="224" name="Google Shape;224;p6"/>
          <p:cNvSpPr/>
          <p:nvPr/>
        </p:nvSpPr>
        <p:spPr>
          <a:xfrm>
            <a:off x="5792259" y="2097481"/>
            <a:ext cx="3096263" cy="1695437"/>
          </a:xfrm>
          <a:prstGeom prst="rect">
            <a:avLst/>
          </a:prstGeom>
          <a:noFill/>
          <a:ln>
            <a:noFill/>
          </a:ln>
        </p:spPr>
        <p:txBody>
          <a:bodyPr anchorCtr="0" anchor="ctr" bIns="45700" lIns="91425" spcFirstLastPara="1" rIns="91425" wrap="square" tIns="45700">
            <a:noAutofit/>
          </a:bodyPr>
          <a:lstStyle/>
          <a:p>
            <a:pPr indent="-273050" lvl="0" marL="342900" marR="0" rtl="0" algn="l">
              <a:lnSpc>
                <a:spcPct val="100000"/>
              </a:lnSpc>
              <a:spcBef>
                <a:spcPts val="300"/>
              </a:spcBef>
              <a:spcAft>
                <a:spcPts val="0"/>
              </a:spcAft>
              <a:buClr>
                <a:srgbClr val="3F3F3F"/>
              </a:buClr>
              <a:buSzPts val="1100"/>
              <a:buFont typeface="Calibri"/>
              <a:buNone/>
            </a:pPr>
            <a:r>
              <a:t/>
            </a:r>
            <a:endParaRPr b="0" i="0" sz="1100" u="none" cap="none" strike="noStrike">
              <a:solidFill>
                <a:srgbClr val="3F3F3F"/>
              </a:solidFill>
              <a:latin typeface="Calibri"/>
              <a:ea typeface="Calibri"/>
              <a:cs typeface="Calibri"/>
              <a:sym typeface="Calibri"/>
            </a:endParaRPr>
          </a:p>
        </p:txBody>
      </p:sp>
      <p:sp>
        <p:nvSpPr>
          <p:cNvPr id="225" name="Google Shape;225;p6"/>
          <p:cNvSpPr/>
          <p:nvPr/>
        </p:nvSpPr>
        <p:spPr>
          <a:xfrm>
            <a:off x="5799416" y="3974386"/>
            <a:ext cx="3067190" cy="717300"/>
          </a:xfrm>
          <a:prstGeom prst="rect">
            <a:avLst/>
          </a:prstGeom>
          <a:solidFill>
            <a:srgbClr val="00A896">
              <a:alpha val="5882"/>
            </a:srgbClr>
          </a:solidFill>
          <a:ln cap="flat" cmpd="sng" w="9525">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6"/>
          <p:cNvSpPr/>
          <p:nvPr/>
        </p:nvSpPr>
        <p:spPr>
          <a:xfrm>
            <a:off x="5852391" y="3970442"/>
            <a:ext cx="3127883" cy="717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00A896"/>
                </a:solidFill>
                <a:latin typeface="Calibri"/>
                <a:ea typeface="Calibri"/>
                <a:cs typeface="Calibri"/>
                <a:sym typeface="Calibri"/>
              </a:rPr>
              <a:t>Strengths: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0000"/>
                </a:solidFill>
                <a:latin typeface="Calibri"/>
                <a:ea typeface="Calibri"/>
                <a:cs typeface="Calibri"/>
                <a:sym typeface="Calibri"/>
              </a:rPr>
              <a:t>Weaknesses</a:t>
            </a:r>
            <a:r>
              <a:rPr b="0" i="0" lang="en-US" sz="1000" u="none" cap="none" strike="noStrike">
                <a:solidFill>
                  <a:srgbClr val="FF0000"/>
                </a:solidFill>
                <a:latin typeface="Calibri"/>
                <a:ea typeface="Calibri"/>
                <a:cs typeface="Calibri"/>
                <a:sym typeface="Calibri"/>
              </a:rPr>
              <a:t>:</a:t>
            </a:r>
            <a:endParaRPr b="0" i="0" sz="1000" u="none" cap="none" strike="noStrike">
              <a:solidFill>
                <a:srgbClr val="FF0000"/>
              </a:solidFill>
              <a:latin typeface="Calibri"/>
              <a:ea typeface="Calibri"/>
              <a:cs typeface="Calibri"/>
              <a:sym typeface="Calibri"/>
            </a:endParaRPr>
          </a:p>
        </p:txBody>
      </p:sp>
      <p:sp>
        <p:nvSpPr>
          <p:cNvPr id="227" name="Google Shape;227;p6"/>
          <p:cNvSpPr/>
          <p:nvPr/>
        </p:nvSpPr>
        <p:spPr>
          <a:xfrm>
            <a:off x="1345692" y="2008317"/>
            <a:ext cx="3342130" cy="41478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d488ec2be2_0_0"/>
          <p:cNvSpPr/>
          <p:nvPr/>
        </p:nvSpPr>
        <p:spPr>
          <a:xfrm>
            <a:off x="0" y="0"/>
            <a:ext cx="9144000" cy="639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3d488ec2be2_0_0"/>
          <p:cNvSpPr/>
          <p:nvPr/>
        </p:nvSpPr>
        <p:spPr>
          <a:xfrm>
            <a:off x="0" y="64008"/>
            <a:ext cx="411600" cy="5079600"/>
          </a:xfrm>
          <a:prstGeom prst="rect">
            <a:avLst/>
          </a:prstGeom>
          <a:solidFill>
            <a:schemeClr val="lt2"/>
          </a:solidFill>
          <a:ln cap="flat" cmpd="sng" w="12700">
            <a:solidFill>
              <a:srgbClr val="0F21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3d488ec2be2_0_0"/>
          <p:cNvSpPr/>
          <p:nvPr/>
        </p:nvSpPr>
        <p:spPr>
          <a:xfrm>
            <a:off x="402336" y="64008"/>
            <a:ext cx="13800" cy="5079600"/>
          </a:xfrm>
          <a:prstGeom prst="rect">
            <a:avLst/>
          </a:prstGeom>
          <a:solidFill>
            <a:srgbClr val="1C3350"/>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3d488ec2be2_0_0"/>
          <p:cNvSpPr/>
          <p:nvPr/>
        </p:nvSpPr>
        <p:spPr>
          <a:xfrm rot="-5400000">
            <a:off x="-1793382" y="1228710"/>
            <a:ext cx="3989100" cy="2743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700"/>
              <a:buFont typeface="Calibri"/>
              <a:buNone/>
            </a:pPr>
            <a:r>
              <a:rPr b="1" i="0" lang="en-US" sz="700" u="none" cap="none" strike="noStrike">
                <a:solidFill>
                  <a:srgbClr val="3F3F3F"/>
                </a:solidFill>
                <a:latin typeface="Calibri"/>
                <a:ea typeface="Calibri"/>
                <a:cs typeface="Calibri"/>
                <a:sym typeface="Calibri"/>
              </a:rPr>
              <a:t>MATCHMAKING</a:t>
            </a:r>
            <a:endParaRPr b="0" i="0" sz="700" u="none" cap="none" strike="noStrike">
              <a:solidFill>
                <a:srgbClr val="3F3F3F"/>
              </a:solidFill>
              <a:latin typeface="Calibri"/>
              <a:ea typeface="Calibri"/>
              <a:cs typeface="Calibri"/>
              <a:sym typeface="Calibri"/>
            </a:endParaRPr>
          </a:p>
        </p:txBody>
      </p:sp>
      <p:sp>
        <p:nvSpPr>
          <p:cNvPr id="237" name="Google Shape;237;g3d488ec2be2_0_0"/>
          <p:cNvSpPr/>
          <p:nvPr/>
        </p:nvSpPr>
        <p:spPr>
          <a:xfrm>
            <a:off x="548640" y="324539"/>
            <a:ext cx="8412600" cy="530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200">
                <a:solidFill>
                  <a:srgbClr val="3F3F3F"/>
                </a:solidFill>
                <a:latin typeface="Calibri"/>
                <a:ea typeface="Calibri"/>
                <a:cs typeface="Calibri"/>
                <a:sym typeface="Calibri"/>
              </a:rPr>
              <a:t>Details of Relevant Experimentation and Methodology</a:t>
            </a:r>
            <a:endParaRPr b="1" sz="2200">
              <a:solidFill>
                <a:srgbClr val="3F3F3F"/>
              </a:solidFill>
              <a:latin typeface="Calibri"/>
              <a:ea typeface="Calibri"/>
              <a:cs typeface="Calibri"/>
              <a:sym typeface="Calibri"/>
            </a:endParaRPr>
          </a:p>
        </p:txBody>
      </p:sp>
      <p:sp>
        <p:nvSpPr>
          <p:cNvPr id="238" name="Google Shape;238;g3d488ec2be2_0_0"/>
          <p:cNvSpPr/>
          <p:nvPr/>
        </p:nvSpPr>
        <p:spPr>
          <a:xfrm>
            <a:off x="548640" y="1115568"/>
            <a:ext cx="8412600" cy="13800"/>
          </a:xfrm>
          <a:prstGeom prst="rect">
            <a:avLst/>
          </a:prstGeom>
          <a:solidFill>
            <a:srgbClr val="152B45"/>
          </a:solidFill>
          <a:ln cap="flat" cmpd="sng" w="12700">
            <a:solidFill>
              <a:srgbClr val="152B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g3d488ec2be2_0_0"/>
          <p:cNvSpPr/>
          <p:nvPr/>
        </p:nvSpPr>
        <p:spPr>
          <a:xfrm>
            <a:off x="553212" y="1417004"/>
            <a:ext cx="4835400" cy="96000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3d488ec2be2_0_0"/>
          <p:cNvSpPr/>
          <p:nvPr/>
        </p:nvSpPr>
        <p:spPr>
          <a:xfrm>
            <a:off x="553212" y="1417005"/>
            <a:ext cx="45600" cy="9600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3d488ec2be2_0_0"/>
          <p:cNvSpPr/>
          <p:nvPr/>
        </p:nvSpPr>
        <p:spPr>
          <a:xfrm>
            <a:off x="644652" y="1508445"/>
            <a:ext cx="5670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01</a:t>
            </a:r>
            <a:endParaRPr b="0" i="0" sz="2600" u="none" cap="none" strike="noStrike">
              <a:solidFill>
                <a:schemeClr val="dk1"/>
              </a:solidFill>
              <a:latin typeface="Calibri"/>
              <a:ea typeface="Calibri"/>
              <a:cs typeface="Calibri"/>
              <a:sym typeface="Calibri"/>
            </a:endParaRPr>
          </a:p>
        </p:txBody>
      </p:sp>
      <p:sp>
        <p:nvSpPr>
          <p:cNvPr id="242" name="Google Shape;242;g3d488ec2be2_0_0"/>
          <p:cNvSpPr/>
          <p:nvPr/>
        </p:nvSpPr>
        <p:spPr>
          <a:xfrm>
            <a:off x="1193299" y="1686814"/>
            <a:ext cx="3096300" cy="13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1300">
                <a:solidFill>
                  <a:srgbClr val="3F3F3F"/>
                </a:solidFill>
                <a:latin typeface="Calibri"/>
                <a:ea typeface="Calibri"/>
                <a:cs typeface="Calibri"/>
                <a:sym typeface="Calibri"/>
              </a:rPr>
              <a:t>Any ablations tried, any interesting results that helped you refine your approac</a:t>
            </a:r>
            <a:r>
              <a:rPr b="1" lang="en-US">
                <a:solidFill>
                  <a:srgbClr val="3F3F3F"/>
                </a:solidFill>
                <a:latin typeface="Calibri"/>
                <a:ea typeface="Calibri"/>
                <a:cs typeface="Calibri"/>
                <a:sym typeface="Calibri"/>
              </a:rPr>
              <a:t>h</a:t>
            </a:r>
            <a:endParaRPr b="1" i="0" sz="450" u="none" cap="none" strike="noStrike">
              <a:solidFill>
                <a:srgbClr val="3F3F3F"/>
              </a:solidFill>
              <a:latin typeface="Calibri"/>
              <a:ea typeface="Calibri"/>
              <a:cs typeface="Calibri"/>
              <a:sym typeface="Calibri"/>
            </a:endParaRPr>
          </a:p>
        </p:txBody>
      </p:sp>
      <p:sp>
        <p:nvSpPr>
          <p:cNvPr id="243" name="Google Shape;243;g3d488ec2be2_0_0"/>
          <p:cNvSpPr/>
          <p:nvPr/>
        </p:nvSpPr>
        <p:spPr>
          <a:xfrm>
            <a:off x="1193292" y="1855917"/>
            <a:ext cx="3342000" cy="414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244" name="Google Shape;244;g3d488ec2be2_0_0"/>
          <p:cNvSpPr/>
          <p:nvPr/>
        </p:nvSpPr>
        <p:spPr>
          <a:xfrm>
            <a:off x="4483437" y="1819341"/>
            <a:ext cx="725400" cy="255900"/>
          </a:xfrm>
          <a:prstGeom prst="roundRect">
            <a:avLst>
              <a:gd fmla="val 14286" name="adj"/>
            </a:avLst>
          </a:prstGeom>
          <a:solidFill>
            <a:srgbClr val="5C7A94">
              <a:alpha val="14900"/>
            </a:srgbClr>
          </a:solidFill>
          <a:ln cap="flat" cmpd="sng" w="12700">
            <a:solidFill>
              <a:srgbClr val="5C7A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g3d488ec2be2_0_0"/>
          <p:cNvSpPr/>
          <p:nvPr/>
        </p:nvSpPr>
        <p:spPr>
          <a:xfrm>
            <a:off x="4483437" y="1819341"/>
            <a:ext cx="725400" cy="25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C7A94"/>
              </a:buClr>
              <a:buSzPts val="750"/>
              <a:buFont typeface="Calibri"/>
              <a:buNone/>
            </a:pPr>
            <a:r>
              <a:rPr b="1" i="0" lang="en-US" sz="750" u="none" cap="none" strike="noStrike">
                <a:solidFill>
                  <a:srgbClr val="5C7A94"/>
                </a:solidFill>
                <a:latin typeface="Calibri"/>
                <a:ea typeface="Calibri"/>
                <a:cs typeface="Calibri"/>
                <a:sym typeface="Calibri"/>
              </a:rPr>
              <a:t>01</a:t>
            </a:r>
            <a:endParaRPr b="0" i="0" sz="750" u="none" cap="none" strike="noStrike">
              <a:solidFill>
                <a:srgbClr val="5C7A94"/>
              </a:solidFill>
              <a:latin typeface="Calibri"/>
              <a:ea typeface="Calibri"/>
              <a:cs typeface="Calibri"/>
              <a:sym typeface="Calibri"/>
            </a:endParaRPr>
          </a:p>
        </p:txBody>
      </p:sp>
      <p:sp>
        <p:nvSpPr>
          <p:cNvPr id="246" name="Google Shape;246;g3d488ec2be2_0_0"/>
          <p:cNvSpPr/>
          <p:nvPr/>
        </p:nvSpPr>
        <p:spPr>
          <a:xfrm>
            <a:off x="553212" y="2516569"/>
            <a:ext cx="4835400" cy="107790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g3d488ec2be2_0_0"/>
          <p:cNvSpPr/>
          <p:nvPr/>
        </p:nvSpPr>
        <p:spPr>
          <a:xfrm>
            <a:off x="548640" y="2516569"/>
            <a:ext cx="50400" cy="10779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3d488ec2be2_0_0"/>
          <p:cNvSpPr/>
          <p:nvPr/>
        </p:nvSpPr>
        <p:spPr>
          <a:xfrm>
            <a:off x="644652" y="2608010"/>
            <a:ext cx="5670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02</a:t>
            </a:r>
            <a:endParaRPr b="0" i="0" sz="2600" u="none" cap="none" strike="noStrike">
              <a:solidFill>
                <a:schemeClr val="dk1"/>
              </a:solidFill>
              <a:latin typeface="Calibri"/>
              <a:ea typeface="Calibri"/>
              <a:cs typeface="Calibri"/>
              <a:sym typeface="Calibri"/>
            </a:endParaRPr>
          </a:p>
        </p:txBody>
      </p:sp>
      <p:sp>
        <p:nvSpPr>
          <p:cNvPr id="249" name="Google Shape;249;g3d488ec2be2_0_0"/>
          <p:cNvSpPr/>
          <p:nvPr/>
        </p:nvSpPr>
        <p:spPr>
          <a:xfrm>
            <a:off x="1203491" y="2611566"/>
            <a:ext cx="3626400" cy="21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sz="1200">
                <a:latin typeface="Calibri"/>
                <a:ea typeface="Calibri"/>
                <a:cs typeface="Calibri"/>
                <a:sym typeface="Calibri"/>
              </a:rPr>
              <a:t>Any external resources/research papers referred that proved useful and can back up your whys</a:t>
            </a:r>
            <a:endParaRPr b="1" i="0" sz="1050" u="none" cap="none" strike="noStrike">
              <a:solidFill>
                <a:srgbClr val="3F3F3F"/>
              </a:solidFill>
              <a:latin typeface="Calibri"/>
              <a:ea typeface="Calibri"/>
              <a:cs typeface="Calibri"/>
              <a:sym typeface="Calibri"/>
            </a:endParaRPr>
          </a:p>
        </p:txBody>
      </p:sp>
      <p:sp>
        <p:nvSpPr>
          <p:cNvPr id="250" name="Google Shape;250;g3d488ec2be2_0_0"/>
          <p:cNvSpPr/>
          <p:nvPr/>
        </p:nvSpPr>
        <p:spPr>
          <a:xfrm>
            <a:off x="1193291" y="3019489"/>
            <a:ext cx="33603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251" name="Google Shape;251;g3d488ec2be2_0_0"/>
          <p:cNvSpPr/>
          <p:nvPr/>
        </p:nvSpPr>
        <p:spPr>
          <a:xfrm>
            <a:off x="4396576" y="2763458"/>
            <a:ext cx="822300" cy="255900"/>
          </a:xfrm>
          <a:prstGeom prst="roundRect">
            <a:avLst>
              <a:gd fmla="val 14286" name="adj"/>
            </a:avLst>
          </a:prstGeom>
          <a:solidFill>
            <a:srgbClr val="00A896">
              <a:alpha val="14900"/>
            </a:srgbClr>
          </a:solidFill>
          <a:ln cap="flat" cmpd="sng" w="12700">
            <a:solidFill>
              <a:srgbClr val="00A8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g3d488ec2be2_0_0"/>
          <p:cNvSpPr/>
          <p:nvPr/>
        </p:nvSpPr>
        <p:spPr>
          <a:xfrm>
            <a:off x="4396576" y="2781921"/>
            <a:ext cx="822300" cy="25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750"/>
              <a:buFont typeface="Calibri"/>
              <a:buNone/>
            </a:pPr>
            <a:r>
              <a:rPr b="1" i="0" lang="en-US" sz="750" u="none" cap="none" strike="noStrike">
                <a:solidFill>
                  <a:srgbClr val="00A896"/>
                </a:solidFill>
                <a:latin typeface="Calibri"/>
                <a:ea typeface="Calibri"/>
                <a:cs typeface="Calibri"/>
                <a:sym typeface="Calibri"/>
              </a:rPr>
              <a:t>02</a:t>
            </a:r>
            <a:endParaRPr b="0" i="0" sz="750" u="none" cap="none" strike="noStrike">
              <a:solidFill>
                <a:schemeClr val="dk1"/>
              </a:solidFill>
              <a:latin typeface="Calibri"/>
              <a:ea typeface="Calibri"/>
              <a:cs typeface="Calibri"/>
              <a:sym typeface="Calibri"/>
            </a:endParaRPr>
          </a:p>
        </p:txBody>
      </p:sp>
      <p:sp>
        <p:nvSpPr>
          <p:cNvPr id="253" name="Google Shape;253;g3d488ec2be2_0_0"/>
          <p:cNvSpPr/>
          <p:nvPr/>
        </p:nvSpPr>
        <p:spPr>
          <a:xfrm>
            <a:off x="553212" y="3744468"/>
            <a:ext cx="4835400" cy="107790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g3d488ec2be2_0_0"/>
          <p:cNvSpPr/>
          <p:nvPr/>
        </p:nvSpPr>
        <p:spPr>
          <a:xfrm>
            <a:off x="553212" y="3744468"/>
            <a:ext cx="45600" cy="10779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3d488ec2be2_0_0"/>
          <p:cNvSpPr/>
          <p:nvPr/>
        </p:nvSpPr>
        <p:spPr>
          <a:xfrm>
            <a:off x="644652" y="3835909"/>
            <a:ext cx="5265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03</a:t>
            </a:r>
            <a:endParaRPr b="0" i="0" sz="2600" u="none" cap="none" strike="noStrike">
              <a:solidFill>
                <a:schemeClr val="dk1"/>
              </a:solidFill>
              <a:latin typeface="Calibri"/>
              <a:ea typeface="Calibri"/>
              <a:cs typeface="Calibri"/>
              <a:sym typeface="Calibri"/>
            </a:endParaRPr>
          </a:p>
        </p:txBody>
      </p:sp>
      <p:sp>
        <p:nvSpPr>
          <p:cNvPr id="256" name="Google Shape;256;g3d488ec2be2_0_0"/>
          <p:cNvSpPr/>
          <p:nvPr/>
        </p:nvSpPr>
        <p:spPr>
          <a:xfrm>
            <a:off x="1217005" y="3840227"/>
            <a:ext cx="3626400" cy="21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sz="1200">
                <a:latin typeface="Calibri"/>
                <a:ea typeface="Calibri"/>
                <a:cs typeface="Calibri"/>
                <a:sym typeface="Calibri"/>
              </a:rPr>
              <a:t>Details on LLM prompts and chain of thought used(if used) to arrive at the final approach </a:t>
            </a:r>
            <a:endParaRPr b="1" i="0" sz="1050" u="none" cap="none" strike="noStrike">
              <a:solidFill>
                <a:srgbClr val="3F3F3F"/>
              </a:solidFill>
              <a:latin typeface="Calibri"/>
              <a:ea typeface="Calibri"/>
              <a:cs typeface="Calibri"/>
              <a:sym typeface="Calibri"/>
            </a:endParaRPr>
          </a:p>
        </p:txBody>
      </p:sp>
      <p:sp>
        <p:nvSpPr>
          <p:cNvPr id="257" name="Google Shape;257;g3d488ec2be2_0_0"/>
          <p:cNvSpPr/>
          <p:nvPr/>
        </p:nvSpPr>
        <p:spPr>
          <a:xfrm>
            <a:off x="1211580" y="4210812"/>
            <a:ext cx="3342000" cy="327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258" name="Google Shape;258;g3d488ec2be2_0_0"/>
          <p:cNvSpPr/>
          <p:nvPr/>
        </p:nvSpPr>
        <p:spPr>
          <a:xfrm>
            <a:off x="4483437" y="3991357"/>
            <a:ext cx="725400" cy="255900"/>
          </a:xfrm>
          <a:prstGeom prst="roundRect">
            <a:avLst>
              <a:gd fmla="val 14286" name="adj"/>
            </a:avLst>
          </a:prstGeom>
          <a:solidFill>
            <a:schemeClr val="accent6">
              <a:alpha val="14900"/>
            </a:schemeClr>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3d488ec2be2_0_0"/>
          <p:cNvSpPr/>
          <p:nvPr/>
        </p:nvSpPr>
        <p:spPr>
          <a:xfrm>
            <a:off x="4483437" y="3991357"/>
            <a:ext cx="725400" cy="25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750"/>
              <a:buFont typeface="Calibri"/>
              <a:buNone/>
            </a:pPr>
            <a:r>
              <a:rPr b="1" i="0" lang="en-US" sz="750" u="none" cap="none" strike="noStrike">
                <a:solidFill>
                  <a:schemeClr val="accent6"/>
                </a:solidFill>
                <a:latin typeface="Calibri"/>
                <a:ea typeface="Calibri"/>
                <a:cs typeface="Calibri"/>
                <a:sym typeface="Calibri"/>
              </a:rPr>
              <a:t>03</a:t>
            </a:r>
            <a:endParaRPr b="0" i="0" sz="750" u="none" cap="none" strike="noStrike">
              <a:solidFill>
                <a:schemeClr val="accent6"/>
              </a:solidFill>
              <a:latin typeface="Calibri"/>
              <a:ea typeface="Calibri"/>
              <a:cs typeface="Calibri"/>
              <a:sym typeface="Calibri"/>
            </a:endParaRPr>
          </a:p>
        </p:txBody>
      </p:sp>
      <p:sp>
        <p:nvSpPr>
          <p:cNvPr id="260" name="Google Shape;260;g3d488ec2be2_0_0"/>
          <p:cNvSpPr/>
          <p:nvPr/>
        </p:nvSpPr>
        <p:spPr>
          <a:xfrm>
            <a:off x="5792259" y="2097481"/>
            <a:ext cx="3096300" cy="1695300"/>
          </a:xfrm>
          <a:prstGeom prst="rect">
            <a:avLst/>
          </a:prstGeom>
          <a:noFill/>
          <a:ln>
            <a:noFill/>
          </a:ln>
        </p:spPr>
        <p:txBody>
          <a:bodyPr anchorCtr="0" anchor="ctr" bIns="45700" lIns="91425" spcFirstLastPara="1" rIns="91425" wrap="square" tIns="45700">
            <a:noAutofit/>
          </a:bodyPr>
          <a:lstStyle/>
          <a:p>
            <a:pPr indent="-273050" lvl="0" marL="342900" marR="0" rtl="0" algn="l">
              <a:lnSpc>
                <a:spcPct val="100000"/>
              </a:lnSpc>
              <a:spcBef>
                <a:spcPts val="300"/>
              </a:spcBef>
              <a:spcAft>
                <a:spcPts val="0"/>
              </a:spcAft>
              <a:buClr>
                <a:srgbClr val="3F3F3F"/>
              </a:buClr>
              <a:buSzPts val="1100"/>
              <a:buFont typeface="Calibri"/>
              <a:buNone/>
            </a:pPr>
            <a:r>
              <a:t/>
            </a:r>
            <a:endParaRPr b="0" i="0" sz="1100" u="none" cap="none" strike="noStrike">
              <a:solidFill>
                <a:srgbClr val="3F3F3F"/>
              </a:solidFill>
              <a:latin typeface="Calibri"/>
              <a:ea typeface="Calibri"/>
              <a:cs typeface="Calibri"/>
              <a:sym typeface="Calibri"/>
            </a:endParaRPr>
          </a:p>
        </p:txBody>
      </p:sp>
      <p:sp>
        <p:nvSpPr>
          <p:cNvPr id="261" name="Google Shape;261;g3d488ec2be2_0_0"/>
          <p:cNvSpPr/>
          <p:nvPr/>
        </p:nvSpPr>
        <p:spPr>
          <a:xfrm>
            <a:off x="1345692" y="2008317"/>
            <a:ext cx="3342000" cy="414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
          <p:cNvSpPr/>
          <p:nvPr/>
        </p:nvSpPr>
        <p:spPr>
          <a:xfrm>
            <a:off x="0" y="0"/>
            <a:ext cx="9144000" cy="6400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3"/>
          <p:cNvSpPr/>
          <p:nvPr/>
        </p:nvSpPr>
        <p:spPr>
          <a:xfrm>
            <a:off x="457200" y="419318"/>
            <a:ext cx="4937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solidFill>
                <a:srgbClr val="3F3F3F"/>
              </a:solidFill>
              <a:latin typeface="Calibri"/>
              <a:ea typeface="Calibri"/>
              <a:cs typeface="Calibri"/>
              <a:sym typeface="Calibri"/>
            </a:endParaRPr>
          </a:p>
        </p:txBody>
      </p:sp>
      <p:sp>
        <p:nvSpPr>
          <p:cNvPr id="269" name="Google Shape;269;p3"/>
          <p:cNvSpPr/>
          <p:nvPr/>
        </p:nvSpPr>
        <p:spPr>
          <a:xfrm rot="-5400000">
            <a:off x="-1272627" y="2024767"/>
            <a:ext cx="4937760" cy="1233709"/>
          </a:xfrm>
          <a:prstGeom prst="rect">
            <a:avLst/>
          </a:prstGeom>
          <a:no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00A896"/>
              </a:buClr>
              <a:buSzPts val="5400"/>
              <a:buFont typeface="Calibri"/>
              <a:buNone/>
            </a:pPr>
            <a:r>
              <a:t/>
            </a:r>
            <a:endParaRPr b="0" i="0" sz="1600" u="none" cap="none" strike="noStrike">
              <a:solidFill>
                <a:srgbClr val="3F3F3F"/>
              </a:solidFill>
              <a:latin typeface="Calibri"/>
              <a:ea typeface="Calibri"/>
              <a:cs typeface="Calibri"/>
              <a:sym typeface="Calibri"/>
            </a:endParaRPr>
          </a:p>
        </p:txBody>
      </p:sp>
      <p:sp>
        <p:nvSpPr>
          <p:cNvPr id="270" name="Google Shape;270;p3"/>
          <p:cNvSpPr/>
          <p:nvPr/>
        </p:nvSpPr>
        <p:spPr>
          <a:xfrm>
            <a:off x="0" y="4974336"/>
            <a:ext cx="9144000" cy="169164"/>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3"/>
          <p:cNvSpPr/>
          <p:nvPr/>
        </p:nvSpPr>
        <p:spPr>
          <a:xfrm>
            <a:off x="365760" y="4974336"/>
            <a:ext cx="8412480" cy="1691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8DCF0"/>
              </a:buClr>
              <a:buSzPts val="850"/>
              <a:buFont typeface="Calibri"/>
              <a:buNone/>
            </a:pPr>
            <a:r>
              <a:rPr b="0" i="0" lang="en-US" sz="850" u="none" cap="none" strike="noStrike">
                <a:solidFill>
                  <a:srgbClr val="C8DCF0"/>
                </a:solidFill>
                <a:latin typeface="Calibri"/>
                <a:ea typeface="Calibri"/>
                <a:cs typeface="Calibri"/>
                <a:sym typeface="Calibri"/>
              </a:rPr>
              <a:t> ANRF ·   March 2026   </a:t>
            </a:r>
            <a:endParaRPr b="0" i="0" sz="850" u="none" cap="none" strike="noStrike">
              <a:solidFill>
                <a:schemeClr val="dk1"/>
              </a:solidFill>
              <a:latin typeface="Calibri"/>
              <a:ea typeface="Calibri"/>
              <a:cs typeface="Calibri"/>
              <a:sym typeface="Calibri"/>
            </a:endParaRPr>
          </a:p>
        </p:txBody>
      </p:sp>
      <p:sp>
        <p:nvSpPr>
          <p:cNvPr id="272" name="Google Shape;272;p3"/>
          <p:cNvSpPr/>
          <p:nvPr/>
        </p:nvSpPr>
        <p:spPr>
          <a:xfrm>
            <a:off x="39725" y="570275"/>
            <a:ext cx="8966400" cy="4142700"/>
          </a:xfrm>
          <a:prstGeom prst="rect">
            <a:avLst/>
          </a:prstGeom>
          <a:solidFill>
            <a:schemeClr val="lt2"/>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3"/>
          <p:cNvSpPr/>
          <p:nvPr/>
        </p:nvSpPr>
        <p:spPr>
          <a:xfrm>
            <a:off x="272250" y="2272950"/>
            <a:ext cx="8599500" cy="597600"/>
          </a:xfrm>
          <a:prstGeom prst="rect">
            <a:avLst/>
          </a:prstGeom>
          <a:noFill/>
          <a:ln>
            <a:noFill/>
          </a:ln>
        </p:spPr>
        <p:txBody>
          <a:bodyPr anchorCtr="0" anchor="ctr" bIns="45700" lIns="91425" spcFirstLastPara="1" rIns="91425" wrap="square" tIns="45700">
            <a:noAutofit/>
          </a:bodyPr>
          <a:lstStyle/>
          <a:p>
            <a:pPr indent="-336550" lvl="0" marL="457200" marR="0" rtl="0" algn="l">
              <a:lnSpc>
                <a:spcPct val="100000"/>
              </a:lnSpc>
              <a:spcBef>
                <a:spcPts val="1000"/>
              </a:spcBef>
              <a:spcAft>
                <a:spcPts val="0"/>
              </a:spcAft>
              <a:buClr>
                <a:srgbClr val="3F3F3F"/>
              </a:buClr>
              <a:buSzPts val="1700"/>
              <a:buFont typeface="Calibri"/>
              <a:buChar char="●"/>
            </a:pPr>
            <a:r>
              <a:rPr lang="en-US" sz="1700">
                <a:solidFill>
                  <a:srgbClr val="3F3F3F"/>
                </a:solidFill>
                <a:latin typeface="Calibri"/>
                <a:ea typeface="Calibri"/>
                <a:cs typeface="Calibri"/>
                <a:sym typeface="Calibri"/>
              </a:rPr>
              <a:t>You are not bound to stick </a:t>
            </a:r>
            <a:r>
              <a:rPr lang="en-US" sz="1700">
                <a:solidFill>
                  <a:srgbClr val="3F3F3F"/>
                </a:solidFill>
                <a:latin typeface="Calibri"/>
                <a:ea typeface="Calibri"/>
                <a:cs typeface="Calibri"/>
                <a:sym typeface="Calibri"/>
              </a:rPr>
              <a:t>by this template but remember to have most of the particulars mentioned in this template in your final presentation. You have to </a:t>
            </a:r>
            <a:r>
              <a:rPr b="1" lang="en-US" sz="1700">
                <a:solidFill>
                  <a:srgbClr val="3F3F3F"/>
                </a:solidFill>
                <a:latin typeface="Calibri"/>
                <a:ea typeface="Calibri"/>
                <a:cs typeface="Calibri"/>
                <a:sym typeface="Calibri"/>
              </a:rPr>
              <a:t>prioritise on what information would be pivotal</a:t>
            </a:r>
            <a:r>
              <a:rPr lang="en-US" sz="1700">
                <a:solidFill>
                  <a:srgbClr val="3F3F3F"/>
                </a:solidFill>
                <a:latin typeface="Calibri"/>
                <a:ea typeface="Calibri"/>
                <a:cs typeface="Calibri"/>
                <a:sym typeface="Calibri"/>
              </a:rPr>
              <a:t> to prove your case and approach as there is a</a:t>
            </a:r>
            <a:r>
              <a:rPr b="1" lang="en-US" sz="1700">
                <a:solidFill>
                  <a:srgbClr val="3F3F3F"/>
                </a:solidFill>
                <a:latin typeface="Calibri"/>
                <a:ea typeface="Calibri"/>
                <a:cs typeface="Calibri"/>
                <a:sym typeface="Calibri"/>
              </a:rPr>
              <a:t> hard time limit of 5 minutes for you to present.</a:t>
            </a:r>
            <a:endParaRPr b="1" sz="1700">
              <a:solidFill>
                <a:srgbClr val="3F3F3F"/>
              </a:solidFill>
              <a:latin typeface="Calibri"/>
              <a:ea typeface="Calibri"/>
              <a:cs typeface="Calibri"/>
              <a:sym typeface="Calibri"/>
            </a:endParaRPr>
          </a:p>
          <a:p>
            <a:pPr indent="-336550" lvl="0" marL="457200" marR="0" rtl="0" algn="l">
              <a:lnSpc>
                <a:spcPct val="100000"/>
              </a:lnSpc>
              <a:spcBef>
                <a:spcPts val="1000"/>
              </a:spcBef>
              <a:spcAft>
                <a:spcPts val="0"/>
              </a:spcAft>
              <a:buClr>
                <a:srgbClr val="3F3F3F"/>
              </a:buClr>
              <a:buSzPts val="1700"/>
              <a:buFont typeface="Calibri"/>
              <a:buChar char="●"/>
            </a:pPr>
            <a:r>
              <a:rPr lang="en-US" sz="1700">
                <a:solidFill>
                  <a:srgbClr val="3F3F3F"/>
                </a:solidFill>
                <a:latin typeface="Calibri"/>
                <a:ea typeface="Calibri"/>
                <a:cs typeface="Calibri"/>
                <a:sym typeface="Calibri"/>
              </a:rPr>
              <a:t>You are recommended to be as concise and cogent with your explanations, proofs, results, experimentation details etc. Ideally the explanations should be backed up by experimentation and possibly literature and not mere AI slop.</a:t>
            </a:r>
            <a:endParaRPr sz="1700">
              <a:solidFill>
                <a:srgbClr val="3F3F3F"/>
              </a:solidFill>
              <a:latin typeface="Calibri"/>
              <a:ea typeface="Calibri"/>
              <a:cs typeface="Calibri"/>
              <a:sym typeface="Calibri"/>
            </a:endParaRPr>
          </a:p>
          <a:p>
            <a:pPr indent="-336550" lvl="0" marL="457200" marR="0" rtl="0" algn="l">
              <a:lnSpc>
                <a:spcPct val="100000"/>
              </a:lnSpc>
              <a:spcBef>
                <a:spcPts val="1000"/>
              </a:spcBef>
              <a:spcAft>
                <a:spcPts val="0"/>
              </a:spcAft>
              <a:buClr>
                <a:srgbClr val="3F3F3F"/>
              </a:buClr>
              <a:buSzPts val="1700"/>
              <a:buFont typeface="Calibri"/>
              <a:buChar char="●"/>
            </a:pPr>
            <a:r>
              <a:rPr lang="en-US" sz="1700">
                <a:solidFill>
                  <a:srgbClr val="3F3F3F"/>
                </a:solidFill>
                <a:latin typeface="Calibri"/>
                <a:ea typeface="Calibri"/>
                <a:cs typeface="Calibri"/>
                <a:sym typeface="Calibri"/>
              </a:rPr>
              <a:t>Make sure to highlight what really differentiates your approach from the rest and its novelty. Truly focus on that portion, condense and refine that content for the presentation.</a:t>
            </a:r>
            <a:endParaRPr sz="1700">
              <a:solidFill>
                <a:srgbClr val="3F3F3F"/>
              </a:solidFill>
              <a:latin typeface="Calibri"/>
              <a:ea typeface="Calibri"/>
              <a:cs typeface="Calibri"/>
              <a:sym typeface="Calibri"/>
            </a:endParaRPr>
          </a:p>
          <a:p>
            <a:pPr indent="-336550" lvl="0" marL="457200" marR="0" rtl="0" algn="l">
              <a:lnSpc>
                <a:spcPct val="100000"/>
              </a:lnSpc>
              <a:spcBef>
                <a:spcPts val="1000"/>
              </a:spcBef>
              <a:spcAft>
                <a:spcPts val="0"/>
              </a:spcAft>
              <a:buClr>
                <a:srgbClr val="3F3F3F"/>
              </a:buClr>
              <a:buSzPts val="1700"/>
              <a:buFont typeface="Calibri"/>
              <a:buChar char="●"/>
            </a:pPr>
            <a:r>
              <a:rPr lang="en-US" sz="1700">
                <a:solidFill>
                  <a:srgbClr val="3F3F3F"/>
                </a:solidFill>
                <a:latin typeface="Calibri"/>
                <a:ea typeface="Calibri"/>
                <a:cs typeface="Calibri"/>
                <a:sym typeface="Calibri"/>
              </a:rPr>
              <a:t>All the very best!</a:t>
            </a:r>
            <a:endParaRPr sz="1700">
              <a:solidFill>
                <a:srgbClr val="3F3F3F"/>
              </a:solidFill>
              <a:latin typeface="Calibri"/>
              <a:ea typeface="Calibri"/>
              <a:cs typeface="Calibri"/>
              <a:sym typeface="Calibri"/>
            </a:endParaRPr>
          </a:p>
        </p:txBody>
      </p:sp>
      <p:sp>
        <p:nvSpPr>
          <p:cNvPr id="274" name="Google Shape;274;p3"/>
          <p:cNvSpPr/>
          <p:nvPr/>
        </p:nvSpPr>
        <p:spPr>
          <a:xfrm>
            <a:off x="39725" y="139525"/>
            <a:ext cx="8412600" cy="355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1000"/>
              </a:spcBef>
              <a:spcAft>
                <a:spcPts val="0"/>
              </a:spcAft>
              <a:buNone/>
            </a:pPr>
            <a:r>
              <a:rPr b="1" lang="en-US" sz="1700" u="sng">
                <a:solidFill>
                  <a:srgbClr val="3F3F3F"/>
                </a:solidFill>
                <a:latin typeface="Calibri"/>
                <a:ea typeface="Calibri"/>
                <a:cs typeface="Calibri"/>
                <a:sym typeface="Calibri"/>
              </a:rPr>
              <a:t>Final Notes on the Presentation</a:t>
            </a:r>
            <a:endParaRPr b="1" sz="1700" u="sng">
              <a:solidFill>
                <a:srgbClr val="3F3F3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2026-03-09T00:17:53Z</dcterms:created>
  <dc:creator>PptxGenJS</dc:creator>
</cp:coreProperties>
</file>